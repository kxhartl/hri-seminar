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84" y="1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899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Dobar dan. Tema mojeg seminara je sigurnost, autonomija i pouzdanost humanoidnih robotskih sustava. Krenut ću od jednostavne ideje: humanoidni roboti polako napuštaju izolirane laboratorije i ulaze u prostore koje dijelimo s ljudima — tvornice, bolnice, domove. U tom trenutku sigurnost prestaje biti vanjska ograda, a postaje svojstvo koje mora biti ugrađeno u samu srž upravljačkog sustava. Kroz idućih petnaestak minuta proći ću kako inženjerski osiguravamo da takav robot bude istovremeno samostalan, siguran i pouzdan.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Cijeli se rad može razumjeti kroz jednu temeljnu napetost, i to je nit koja povezuje sve što ću danas reći. Što je robot autonomniji i inteligentniji, to je manje predvidljiv i to je teže formalno jamčiti da nikada neće ugroziti čovjeka. Klasične metode upravljanja daju nam predvidljivo, ali kruto ponašanje. Pristupi temeljeni na učenju daju prilagodljivost, ali uz cijenu neobjašnjivosti. Svaka odluka u ovom području — od regulatora ravnoteže do velikih modela — zapravo je biranje točke na ovoj osi između autonomije i dokazive sigurnosti.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Zašto uopće gradimo robote oblika čovjeka, kad je dvonožni hod inženjerski najteže rješenje? Odgovor je u okruženju. Cijela naša infrastruktura — visina stuba, kvake, alati, vozila — oblikovana je prema ljudskom tijelu. Antropomorfni robot može djelovati u tom postojećem svijetu bez skupih preinaka. A motivacija je vrlo konkretna: demografsko starenje, manjak radne snage u logistici i proizvodnji te želja da ljude maknemo iz opasnih i repetitivnih poslova. To je pokretačka snaga cijelog područja.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Prva važna ispravka intuicije: autonomija nije prekidač koji je uključen ili isključen, nego kontinuirani spektar. Na jednom kraju je teleoperacija, gdje čovjek izravno diktira svaki pokret — sigurno, ali sporo i ne oslobađa radnu snagu. Na drugom kraju je potpuna autonomija. A između je zona promjenjive autonomije, gdje sustav dinamički prebacuje kontrolu između čovjeka i algoritma. Ključan zaključak iz literature: potpuna autonomija često nije ni optimalan ni najsigurniji izbor. Razinu autonomije treba uskladiti s razinom rizika zadatka.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bi robot bio autonoman, mora vrtjeti takozvani perception-planning-control ciklus. Senzori — kamere za dubinu, LiDAR, inercijske jedinice, taktilni nizovi — prikupljaju podatke. Oni se fuzioniraju, najčešće Kalmanovim filtrom, u unutarnji model svijeta. Planiranje generira putanju, a regulator je pretvara u momente za svaki zglob. Ono što je presudno: cijeli se ciklus mora zatvoriti u svega nekoliko milisekundi. To postavlja vrlo stroge zahtjeve na procesorsku snagu i numeričku robusnost, i to je razlog zašto spori, pametni slojevi ne mogu biti izravno u ovoj petlji.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Sada srž fizičke kompleksnosti. Za razliku od industrijskog manipulatora s fiksnom bazom, humanoid je podaktuiran sustav slobodne baze. Nema aktuatora koji izravno upravlja položajem centra mase — ravnoteža se ostvaruje isključivo silom tla preko relativno male površine stopala. Slikovito rečeno, robot pri svakom koraku kontrolirano pada prema naprijed. Temeljni alat za analizu je točka nultog momenta, ZMP: dok je ona unutar oslonca, robot je stabilan. Iz toga slijedi i točka hvatanja — mjesto gdje robot mora stati stopalom da se zaustavi nakon guranja. Bitna posljedica: svaka pogreška u procjeni položaja izravno pomiče ZMP i ugrožava stabilnost.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Humanoid ima dvadeset do četrdeset stupnjeva slobode i za svaki mora generirati moment u realnom vremenu. To rješavamo cjelovitim upravljanjem tijelom — Whole-Body Control — formuliranim kao problem kvadratnog programiranja. Najvažnija poruka ovog slajda: sigurnosna ograničenja, poput granica momenata, ulaze kao tvrda ograničenja optimizacije i nikada ne mogu biti narušena u korist izvršenja zadatka. Uz to, upravljanje je organizirano hijerarhijski po vremenskim skalama: regulacija motora na kilohercu, ravnoteža na stotinama herca, odlučivanje na nekoliko herca. Te brze, jednostavne i provjerljive petlje na dnu jamče osnovnu stabilnost neovisno o tome koliko su spori viši slojevi.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Prijeđimo na kontakt s čovjekom. Polazimo od biomehanike: koliko tijelo može podnijeti bez ozljede. Energija prenesena pri sudaru raste s kvadratom brzine — i to je projektno najvažnija činjenica. Evo konkretnog primjera koji volim: humanoid od devedeset kilograma koji padne iz uspravnog položaja u tlo predaje oko osamsto osamdeset džula. Norma ISO/TS 15066 za osjetljiva područja poput prsnog koša dopušta tek nekoliko džula. Dakle, sudar punim tijelom premašuje dopuštene granice za više od dva reda veličine. Zaključak: budući da energija ide s kvadratom brzine, ograničavanje brzine u blizini čovjeka neusporedivo je učinkovitije od smanjenja mase.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Kako onda uopće dopustiti kontakt? Odgovorom je napuštanje krutog pozicijskog upravljanja u korist upravljanja impedancijom. Kod krutog servomehanizma robot bez popuštanja slijedi putanju i sva energija sudara ide u tijelo čovjeka. Impedancijsko upravljanje nameće robotu ponašanje opruge i prigušnice: na pritisak se zglobovi meko zakreću umjesto da kruto odolijevaju, čime se udar disipira. I bitno — ne mijenjamo mehaničku krutost materijala, nego regulacijsku krutost. Varijabilna impedancija pritom miri sigurnost i produktivnost: daleko od čovjeka robot radi brzo i kruto zbog preciznosti, a kad se osoba približi, snižava krutost i brzinu.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Sada otkazivanja. Za razliku od softvera, gdje pad programa nema fizičkih posljedica, otkazivanje humanoida prijeti i skupom hardveru i ljudima. U tablici vidite četiri tipična izvora: percepcija, lokomocija, manipulacija te softver i hardver. Ono što je posebno opasno jest kaskadna propagacija — greška se širi kroz cijeli lanac. Vizualna odometrija izgubi praćenje, planer dobije krive koordinate, regulator pređe dopuštene momente i robot padne. Kod lokomocije od prve pogreške do pada prolazi tek pedeset do dvjesto milisekundi, što isključuje spore kognitivne slojeve i traži brze refleksne regulatore.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Ovo je za mene jedan od najvažnijih brojeva u radu. Pouzdanost nije svojstvo pojedine komponente, nego cijele strukture. Budući da humanoid radi tek ako svi ključni podsustavi rade, oni čine serijsku strukturu — ukupna pouzdanost je umnožak pojedinačnih. Uzmimo trideset međuovisnih komponenti, svaka s odličnih devedeset devet posto pouzdanosti. Umnožak je samo sedamdeset četiri posto. Drugim riječima, sustav otkazuje otprilike u svakom četvrtom razdoblju. Zato kvaliteta pojedinih dijelova nije dovoljna i zato su nužni redundancija i ciklus detekcije, izolacije i oporavka od kvarova — po načelu graceful degradation, da robot prijeđe u siguran degradiran način rada umjesto u potpuni gubitak kontrole.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Sada ulazimo u utjelovljenu umjetnu inteligenciju, jedno od dva težišta seminara. Paradigma se mijenja: robot više ne ponavlja predprogramirani pokret, nego percipira okolinu i tumači naredbe. Veliki jezični i vizualni modeli omogućuju da korisnik izrekne apstraktan cilj — recimo pospremi stol — a model ga sam raščlani na niz koraka: prepoznaj predmete, planiraj putanju ruke, primi, odloži. Upravo ta sposobnost generalizacije na neviđene zadatke razlog je naglog interesa. No ona istovremeno otvara sigurnosna pitanja kakva u determinističkoj robotici jednostavno nisu postojala.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pitanja su dvojaka. Prvo je vremenski jaz. Inferencija velikih modela traje sto do petsto milisekundi, dok refleksi ravnoteže moraju djelovati na jedan do pet milisekundi. To je raskorak od dva do tri reda veličine — dok model jednom 'pomisli', humanoid u hodu napravi nekoliko koraka. Zato spori model ne smije biti izravno u upravljačkoj petlji. Drugo je problem crne kutije: modeli mogu samouvjereno halucinirati, krivo procijeniti prostor ili nasjesti na zlonamjerno oblikovan ulaz. Njihovo se odlučivanje teško interpretira, što je u izravnoj suprotnosti s industrijskim zahtjevom za dokazivom vezom ulaza i izlaza.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Rješenje je arhitektonsko i to je drugo težište rada. Razdvajamo sustav na brzi refleksni kanal i spori kognitivni kanal — baš kao živčani sustav sisavaca, gdje hitni refleksi zaobilaze koru velikog mozga. Inteligencija, dakle LLM i VLM, smije se baviti semantikom i planiranjem misije, ali svaka akcija u fizičkom prostoru mora proći kroz brzi, deterministički sigurnosni sloj. Taj sloj — često zvan Simplex, uz kontrolne barijerne funkcije — propušta akciju samo ako je unutar provjereno sigurnog skupa; u protivnom se aktivira rezervna sigurna politika. Tako zadržavamo prednosti učenja, a nepredvidivost obuzdavamo unutar matematički definiranih granica. Inteligencija smije planirati, ali ne smije zaobići refleks.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Kako uopće stječemo povjerenje u takav sustav prije nego ga pustimo među ljude? Zbog cijene i rizika, testiranje počinje u simulatorima visoke vjernosti, gdje algoritam vidi milijune epizoda bez fizičkih posljedica. Problem je reality gap — simulator je nesavršen model stvarnosti. Glavni alat protiv toga je domain randomization: namjerno variramo masu, trenje, šum senzora, pa je politika prisiljena naučiti upravljanje robusno na varijacije. No simulacija daje samo statističku pouzdanost. Za kritične funkcije trebamo i matematičko jamstvo — kontrolne barijerne funkcije — te nadzor u izvođenju, runtime assurance, koji u stvarnom vremenu pazi da sustav ostane u sigurnom skupu.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Tehnika nije dovoljna bez normativnog okvira. Temeljna norma je ISO 10218, čija revizija iz 2025. integrira i zahtjeve tehničke specifikacije ISO/TS 15066. Ona definira četiri načina kolaborativne zaštite koje vidite u tablici: zaustavljanje uz nadzor, ručno vođenje, nadzor brzine i razmaka te ograničavanje snage i sile — jedini način koji dopušta izravan kontakt, uz sile ispod biomehaničkog praga. Uz to, europski Akt o umjetnoj inteligenciji svrstava robote koji rade blizu ljudi u visokorizične sustave i traži upravljanje rizicima i evidenciju. Kritika iz literature, koju dijelim, jest da je cijeli normativni okvir nastao za klasične manipulatore i kasni za mobilnim, interaktivnim humanoidima.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Pogledajmo kako sve to izgleda na stvarnim platformama — treće težište. Ne postoji jedan najbolji pristup, nego niz kompromisa na osi autonomija–sigurnost. Atlas je istraživački demonstrator koji maksimizira dinamiku, ali nije primarno namijenjen radu uz ljude. Digit je suprotnost: žrtvuje općenitost za sigurnu, certifikabilnu primjenu u uskoj logističkoj domeni i već je u stvarnoj uporabi. Optimus stavlja na kocku AI-vođenu općenitost čija sigurnost tek treba biti dokazana, oslanjajući se na zaštitne AI-filtre. A Unitree G1 ide na ekstremnu isplativost i nisku masu, čime mu je sigurnosni profil povoljniji. Svaka platforma zauzima drugu točku na istoj osi — što potvrđuje tezu da je upravo ta napetost prava okosnica područja.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zaključim. Razvoj humanoida u svojoj je biti potraga za ravnotežom između autonomije i sigurnosti — dva cilja koja su djelomično u suprotnosti. Dvonožni oblik stvara inherentnu nestabilnost, sigurnost pri kontaktu počiva na popustljivosti i ograničavanju energije, pouzdanost je sustavno svojstvo, a nepredvidivost umjetne inteligencije moramo obuzdati hibridnom arhitekturom. I zato bih ostavio ovu misao: ostvarenje vizije humanoida koji sigurno dijele prostor s ljudima neće ovisiti samo o tome koliko robot može, nego prije svega o tome koliko pouzdano možemo dokazati ono što smije. Hvala na pažnji.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bin"/><Relationship Id="rId5" Type="http://schemas.openxmlformats.org/officeDocument/2006/relationships/image" Target="../media/image4.bin"/><Relationship Id="rId4" Type="http://schemas.openxmlformats.org/officeDocument/2006/relationships/image" Target="../media/image3.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731639"/>
            <a:ext cx="14222730" cy="411361"/>
          </a:xfrm>
          <a:prstGeom prst="rect">
            <a:avLst/>
          </a:prstGeom>
          <a:noFill/>
          <a:ln/>
        </p:spPr>
        <p:txBody>
          <a:bodyPr wrap="square" lIns="25400" tIns="25400" rIns="25400" bIns="25400" rtlCol="0" anchor="ctr">
            <a:normAutofit/>
          </a:bodyPr>
          <a:lstStyle/>
          <a:p>
            <a:r>
              <a:rPr lang="en-US" sz="1800" kern="0" spc="396" dirty="0">
                <a:solidFill>
                  <a:srgbClr val="6E6B62"/>
                </a:solidFill>
                <a:latin typeface="Courier New" pitchFamily="34" charset="0"/>
                <a:ea typeface="Courier New" pitchFamily="34" charset="-122"/>
                <a:cs typeface="Courier New" pitchFamily="34" charset="-120"/>
              </a:rPr>
              <a:t>SVEUČILIŠTE U ZAGREBU </a:t>
            </a:r>
            <a:r>
              <a:rPr lang="en-US" kern="0" spc="396" dirty="0">
                <a:solidFill>
                  <a:srgbClr val="6E6B62"/>
                </a:solidFill>
                <a:latin typeface="Courier New" pitchFamily="34" charset="0"/>
                <a:ea typeface="Courier New" pitchFamily="34" charset="-122"/>
                <a:cs typeface="Courier New" pitchFamily="34" charset="-120"/>
              </a:rPr>
              <a:t>· FSB · CRTA</a:t>
            </a:r>
            <a:endParaRPr lang="en-US" sz="1800" dirty="0"/>
          </a:p>
        </p:txBody>
      </p:sp>
      <p:sp>
        <p:nvSpPr>
          <p:cNvPr id="3" name="Text 1"/>
          <p:cNvSpPr/>
          <p:nvPr/>
        </p:nvSpPr>
        <p:spPr>
          <a:xfrm>
            <a:off x="16725910" y="838200"/>
            <a:ext cx="707082"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52" dirty="0">
                <a:solidFill>
                  <a:srgbClr val="9A968B"/>
                </a:solidFill>
                <a:latin typeface="Courier New" pitchFamily="34" charset="0"/>
                <a:ea typeface="Courier New" pitchFamily="34" charset="-122"/>
                <a:cs typeface="Courier New" pitchFamily="34" charset="-120"/>
              </a:rPr>
              <a:t>2026</a:t>
            </a:r>
            <a:endParaRPr lang="en-US" sz="1800" dirty="0"/>
          </a:p>
        </p:txBody>
      </p:sp>
      <p:sp>
        <p:nvSpPr>
          <p:cNvPr id="4" name="Text 2"/>
          <p:cNvSpPr/>
          <p:nvPr/>
        </p:nvSpPr>
        <p:spPr>
          <a:xfrm>
            <a:off x="1047750" y="3571726"/>
            <a:ext cx="11772900" cy="2945606"/>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7200" b="1" kern="0" spc="-130" dirty="0" err="1">
                <a:solidFill>
                  <a:srgbClr val="15140F"/>
                </a:solidFill>
                <a:latin typeface="Helvetica" pitchFamily="34" charset="0"/>
                <a:ea typeface="Helvetica" pitchFamily="34" charset="-122"/>
                <a:cs typeface="Helvetica" pitchFamily="34" charset="-120"/>
              </a:rPr>
              <a:t>Sigurnost</a:t>
            </a:r>
            <a:r>
              <a:rPr lang="en-US" sz="7200" b="1" kern="0" spc="-130" dirty="0">
                <a:solidFill>
                  <a:srgbClr val="15140F"/>
                </a:solidFill>
                <a:latin typeface="Helvetica" pitchFamily="34" charset="0"/>
                <a:ea typeface="Helvetica" pitchFamily="34" charset="-122"/>
                <a:cs typeface="Helvetica" pitchFamily="34" charset="-120"/>
              </a:rPr>
              <a:t>, </a:t>
            </a:r>
            <a:r>
              <a:rPr lang="en-US" sz="7200" b="1" kern="0" spc="-130" dirty="0" err="1">
                <a:solidFill>
                  <a:srgbClr val="15140F"/>
                </a:solidFill>
                <a:latin typeface="Helvetica" pitchFamily="34" charset="0"/>
                <a:ea typeface="Helvetica" pitchFamily="34" charset="-122"/>
                <a:cs typeface="Helvetica" pitchFamily="34" charset="-120"/>
              </a:rPr>
              <a:t>autonomija</a:t>
            </a:r>
            <a:r>
              <a:rPr lang="en-US" sz="7200" b="1" kern="0" spc="-130" dirty="0">
                <a:solidFill>
                  <a:srgbClr val="15140F"/>
                </a:solidFill>
                <a:latin typeface="Helvetica" pitchFamily="34" charset="0"/>
                <a:ea typeface="Helvetica" pitchFamily="34" charset="-122"/>
                <a:cs typeface="Helvetica" pitchFamily="34" charset="-120"/>
              </a:rPr>
              <a:t> </a:t>
            </a:r>
            <a:r>
              <a:rPr lang="en-US" sz="7200" b="1" kern="0" spc="-130" dirty="0" err="1">
                <a:solidFill>
                  <a:srgbClr val="15140F"/>
                </a:solidFill>
                <a:latin typeface="Helvetica" pitchFamily="34" charset="0"/>
                <a:ea typeface="Helvetica" pitchFamily="34" charset="-122"/>
                <a:cs typeface="Helvetica" pitchFamily="34" charset="-120"/>
              </a:rPr>
              <a:t>i</a:t>
            </a:r>
            <a:r>
              <a:rPr lang="en-US" sz="7200" b="1" kern="0" spc="-130" dirty="0">
                <a:solidFill>
                  <a:srgbClr val="15140F"/>
                </a:solidFill>
                <a:latin typeface="Helvetica" pitchFamily="34" charset="0"/>
                <a:ea typeface="Helvetica" pitchFamily="34" charset="-122"/>
                <a:cs typeface="Helvetica" pitchFamily="34" charset="-120"/>
              </a:rPr>
              <a:t> </a:t>
            </a:r>
            <a:r>
              <a:rPr lang="en-US" sz="7200" b="1" kern="0" spc="-130" dirty="0" err="1">
                <a:solidFill>
                  <a:srgbClr val="15140F"/>
                </a:solidFill>
                <a:latin typeface="Helvetica" pitchFamily="34" charset="0"/>
                <a:ea typeface="Helvetica" pitchFamily="34" charset="-122"/>
                <a:cs typeface="Helvetica" pitchFamily="34" charset="-120"/>
              </a:rPr>
              <a:t>pouzdanost</a:t>
            </a:r>
            <a:r>
              <a:rPr lang="en-US" sz="7200" b="1" kern="0" spc="-130" dirty="0">
                <a:solidFill>
                  <a:srgbClr val="15140F"/>
                </a:solidFill>
                <a:latin typeface="Helvetica" pitchFamily="34" charset="0"/>
                <a:ea typeface="Helvetica" pitchFamily="34" charset="-122"/>
                <a:cs typeface="Helvetica" pitchFamily="34" charset="-120"/>
              </a:rPr>
              <a:t> </a:t>
            </a:r>
            <a:r>
              <a:rPr lang="en-US" sz="7200" b="1" kern="0" spc="-130" dirty="0" err="1">
                <a:solidFill>
                  <a:srgbClr val="15140F"/>
                </a:solidFill>
                <a:latin typeface="Helvetica" pitchFamily="34" charset="0"/>
                <a:ea typeface="Helvetica" pitchFamily="34" charset="-122"/>
                <a:cs typeface="Helvetica" pitchFamily="34" charset="-120"/>
              </a:rPr>
              <a:t>humanoidnih</a:t>
            </a:r>
            <a:r>
              <a:rPr lang="en-US" sz="7200" b="1" kern="0" spc="-130" dirty="0">
                <a:solidFill>
                  <a:srgbClr val="15140F"/>
                </a:solidFill>
                <a:latin typeface="Helvetica" pitchFamily="34" charset="0"/>
                <a:ea typeface="Helvetica" pitchFamily="34" charset="-122"/>
                <a:cs typeface="Helvetica" pitchFamily="34" charset="-120"/>
              </a:rPr>
              <a:t> </a:t>
            </a:r>
            <a:r>
              <a:rPr lang="en-US" sz="7200" b="1" kern="0" spc="-130" dirty="0" err="1">
                <a:solidFill>
                  <a:srgbClr val="15140F"/>
                </a:solidFill>
                <a:latin typeface="Helvetica" pitchFamily="34" charset="0"/>
                <a:ea typeface="Helvetica" pitchFamily="34" charset="-122"/>
                <a:cs typeface="Helvetica" pitchFamily="34" charset="-120"/>
              </a:rPr>
              <a:t>robotskih</a:t>
            </a:r>
            <a:r>
              <a:rPr lang="en-US" sz="7200" b="1" kern="0" spc="-130" dirty="0">
                <a:solidFill>
                  <a:srgbClr val="15140F"/>
                </a:solidFill>
                <a:latin typeface="Helvetica" pitchFamily="34" charset="0"/>
                <a:ea typeface="Helvetica" pitchFamily="34" charset="-122"/>
                <a:cs typeface="Helvetica" pitchFamily="34" charset="-120"/>
              </a:rPr>
              <a:t> </a:t>
            </a:r>
            <a:r>
              <a:rPr lang="en-US" sz="7200" b="1" kern="0" spc="-130" dirty="0" err="1">
                <a:solidFill>
                  <a:srgbClr val="15140F"/>
                </a:solidFill>
                <a:latin typeface="Helvetica" pitchFamily="34" charset="0"/>
                <a:ea typeface="Helvetica" pitchFamily="34" charset="-122"/>
                <a:cs typeface="Helvetica" pitchFamily="34" charset="-120"/>
              </a:rPr>
              <a:t>sustava</a:t>
            </a:r>
            <a:endParaRPr lang="en-US" sz="7200" dirty="0"/>
          </a:p>
        </p:txBody>
      </p:sp>
      <p:sp>
        <p:nvSpPr>
          <p:cNvPr id="5" name="Text 3"/>
          <p:cNvSpPr/>
          <p:nvPr/>
        </p:nvSpPr>
        <p:spPr>
          <a:xfrm>
            <a:off x="1047750" y="8717459"/>
            <a:ext cx="4838968"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5140F"/>
                </a:solidFill>
                <a:latin typeface="Helvetica" pitchFamily="34" charset="0"/>
                <a:ea typeface="Helvetica" pitchFamily="34" charset="-122"/>
                <a:cs typeface="Helvetica" pitchFamily="34" charset="-120"/>
              </a:rPr>
              <a:t>Krešimir Hartl</a:t>
            </a:r>
            <a:endParaRPr lang="en-US" sz="2100" dirty="0"/>
          </a:p>
        </p:txBody>
      </p:sp>
      <p:sp>
        <p:nvSpPr>
          <p:cNvPr id="6" name="Text 4"/>
          <p:cNvSpPr/>
          <p:nvPr/>
        </p:nvSpPr>
        <p:spPr>
          <a:xfrm>
            <a:off x="1047750" y="9128820"/>
            <a:ext cx="483896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endParaRPr lang="en-US" sz="1800" dirty="0"/>
          </a:p>
        </p:txBody>
      </p:sp>
      <p:sp>
        <p:nvSpPr>
          <p:cNvPr id="7" name="Text 5"/>
          <p:cNvSpPr/>
          <p:nvPr/>
        </p:nvSpPr>
        <p:spPr>
          <a:xfrm>
            <a:off x="9610165" y="8488859"/>
            <a:ext cx="7630085" cy="998041"/>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E6B62"/>
                </a:solidFill>
                <a:latin typeface="Helvetica" pitchFamily="34" charset="0"/>
                <a:ea typeface="Helvetica" pitchFamily="34" charset="-122"/>
                <a:cs typeface="Helvetica" pitchFamily="34" charset="-120"/>
              </a:rPr>
              <a:t>Kritički pregled inženjerskih metoda kojima humanoidni roboti istovremeno postaju samostalni, sigurni i pouzdani u prostoru koji dijele s ljudima.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669381"/>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GLAVNA TEZA</a:t>
            </a:r>
            <a:endParaRPr lang="en-US" sz="1800" dirty="0"/>
          </a:p>
        </p:txBody>
      </p:sp>
      <p:sp>
        <p:nvSpPr>
          <p:cNvPr id="3" name="Text 1"/>
          <p:cNvSpPr/>
          <p:nvPr/>
        </p:nvSpPr>
        <p:spPr>
          <a:xfrm>
            <a:off x="1047750" y="3317081"/>
            <a:ext cx="10639605" cy="2400449"/>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5850" b="1" kern="0" spc="-105" dirty="0">
                <a:solidFill>
                  <a:srgbClr val="15140F"/>
                </a:solidFill>
                <a:latin typeface="Helvetica" pitchFamily="34" charset="0"/>
                <a:ea typeface="Helvetica" pitchFamily="34" charset="-122"/>
                <a:cs typeface="Helvetica" pitchFamily="34" charset="-120"/>
              </a:rPr>
              <a:t>Što je robot autonomniji , to je teže formalno jamčiti njegovu sigurnost.</a:t>
            </a:r>
            <a:endParaRPr lang="en-US" sz="5850" dirty="0"/>
          </a:p>
        </p:txBody>
      </p:sp>
      <p:sp>
        <p:nvSpPr>
          <p:cNvPr id="4" name="Shape 2"/>
          <p:cNvSpPr/>
          <p:nvPr/>
        </p:nvSpPr>
        <p:spPr>
          <a:xfrm>
            <a:off x="1047750" y="6289243"/>
            <a:ext cx="5476875" cy="1328440"/>
          </a:xfrm>
          <a:prstGeom prst="rect">
            <a:avLst/>
          </a:prstGeom>
          <a:solidFill>
            <a:srgbClr val="FFFFFF"/>
          </a:solidFill>
          <a:ln/>
        </p:spPr>
        <p:txBody>
          <a:bodyPr/>
          <a:lstStyle/>
          <a:p>
            <a:endParaRPr lang="en-GB"/>
          </a:p>
        </p:txBody>
      </p:sp>
      <p:sp>
        <p:nvSpPr>
          <p:cNvPr id="5" name="Shape 3"/>
          <p:cNvSpPr/>
          <p:nvPr/>
        </p:nvSpPr>
        <p:spPr>
          <a:xfrm>
            <a:off x="1047750" y="7608158"/>
            <a:ext cx="5476875" cy="9525"/>
          </a:xfrm>
          <a:prstGeom prst="rect">
            <a:avLst/>
          </a:prstGeom>
          <a:solidFill>
            <a:srgbClr val="E4E2DA"/>
          </a:solidFill>
          <a:ln/>
        </p:spPr>
        <p:txBody>
          <a:bodyPr/>
          <a:lstStyle/>
          <a:p>
            <a:endParaRPr lang="en-GB"/>
          </a:p>
        </p:txBody>
      </p:sp>
      <p:sp>
        <p:nvSpPr>
          <p:cNvPr id="6" name="Shape 4"/>
          <p:cNvSpPr/>
          <p:nvPr/>
        </p:nvSpPr>
        <p:spPr>
          <a:xfrm>
            <a:off x="1047750" y="6289243"/>
            <a:ext cx="5476875" cy="9525"/>
          </a:xfrm>
          <a:prstGeom prst="rect">
            <a:avLst/>
          </a:prstGeom>
          <a:solidFill>
            <a:srgbClr val="E4E2DA"/>
          </a:solidFill>
          <a:ln/>
        </p:spPr>
        <p:txBody>
          <a:bodyPr/>
          <a:lstStyle/>
          <a:p>
            <a:endParaRPr lang="en-GB"/>
          </a:p>
        </p:txBody>
      </p:sp>
      <p:sp>
        <p:nvSpPr>
          <p:cNvPr id="7" name="Shape 5"/>
          <p:cNvSpPr/>
          <p:nvPr/>
        </p:nvSpPr>
        <p:spPr>
          <a:xfrm>
            <a:off x="1047750" y="6289243"/>
            <a:ext cx="9525" cy="1328440"/>
          </a:xfrm>
          <a:prstGeom prst="rect">
            <a:avLst/>
          </a:prstGeom>
          <a:solidFill>
            <a:srgbClr val="E4E2DA"/>
          </a:solidFill>
          <a:ln/>
        </p:spPr>
        <p:txBody>
          <a:bodyPr/>
          <a:lstStyle/>
          <a:p>
            <a:endParaRPr lang="en-GB"/>
          </a:p>
        </p:txBody>
      </p:sp>
      <p:sp>
        <p:nvSpPr>
          <p:cNvPr id="8" name="Text 6"/>
          <p:cNvSpPr/>
          <p:nvPr/>
        </p:nvSpPr>
        <p:spPr>
          <a:xfrm>
            <a:off x="1362075" y="6584518"/>
            <a:ext cx="534352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6E6B62"/>
                </a:solidFill>
                <a:latin typeface="Courier New" pitchFamily="34" charset="0"/>
                <a:ea typeface="Courier New" pitchFamily="34" charset="-122"/>
                <a:cs typeface="Courier New" pitchFamily="34" charset="-120"/>
              </a:rPr>
              <a:t>KLASIČNO UPRAVLJANJE</a:t>
            </a:r>
            <a:endParaRPr lang="en-US" sz="1800" dirty="0"/>
          </a:p>
        </p:txBody>
      </p:sp>
      <p:sp>
        <p:nvSpPr>
          <p:cNvPr id="9" name="Text 7"/>
          <p:cNvSpPr/>
          <p:nvPr/>
        </p:nvSpPr>
        <p:spPr>
          <a:xfrm>
            <a:off x="1362075" y="6980698"/>
            <a:ext cx="5343525" cy="379809"/>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1950" dirty="0">
                <a:solidFill>
                  <a:srgbClr val="15140F"/>
                </a:solidFill>
                <a:latin typeface="Helvetica" pitchFamily="34" charset="0"/>
                <a:ea typeface="Helvetica" pitchFamily="34" charset="-122"/>
                <a:cs typeface="Helvetica" pitchFamily="34" charset="-120"/>
              </a:rPr>
              <a:t>Predvidljivo, dokazivo — ali kruto.</a:t>
            </a:r>
            <a:endParaRPr lang="en-US" sz="1950" dirty="0"/>
          </a:p>
        </p:txBody>
      </p:sp>
      <p:sp>
        <p:nvSpPr>
          <p:cNvPr id="10" name="Shape 8"/>
          <p:cNvSpPr/>
          <p:nvPr/>
        </p:nvSpPr>
        <p:spPr>
          <a:xfrm>
            <a:off x="6524625" y="6943938"/>
            <a:ext cx="1428750" cy="19050"/>
          </a:xfrm>
          <a:prstGeom prst="rect">
            <a:avLst/>
          </a:prstGeom>
          <a:solidFill>
            <a:srgbClr val="15140F"/>
          </a:solidFill>
          <a:ln/>
        </p:spPr>
        <p:txBody>
          <a:bodyPr/>
          <a:lstStyle/>
          <a:p>
            <a:endParaRPr lang="en-GB"/>
          </a:p>
        </p:txBody>
      </p:sp>
      <p:sp>
        <p:nvSpPr>
          <p:cNvPr id="11" name="Text 9"/>
          <p:cNvSpPr/>
          <p:nvPr/>
        </p:nvSpPr>
        <p:spPr>
          <a:xfrm>
            <a:off x="6643241" y="6543888"/>
            <a:ext cx="1191518" cy="304800"/>
          </a:xfrm>
          <a:prstGeom prst="rect">
            <a:avLst/>
          </a:prstGeom>
          <a:noFill/>
          <a:ln/>
        </p:spPr>
        <p:txBody>
          <a:bodyPr wrap="none" lIns="25400" tIns="25400" rIns="25400" bIns="25400" rtlCol="0" anchor="t">
            <a:normAutofit lnSpcReduction="10000"/>
          </a:bodyPr>
          <a:lstStyle/>
          <a:p>
            <a:pPr marL="0" indent="0" algn="ctr">
              <a:buNone/>
            </a:pPr>
            <a:r>
              <a:rPr lang="en-US" sz="1800" kern="0" spc="108" dirty="0">
                <a:solidFill>
                  <a:srgbClr val="6E6B62"/>
                </a:solidFill>
                <a:latin typeface="Courier New" pitchFamily="34" charset="0"/>
                <a:ea typeface="Courier New" pitchFamily="34" charset="-122"/>
                <a:cs typeface="Courier New" pitchFamily="34" charset="-120"/>
              </a:rPr>
              <a:t>NAPETOST</a:t>
            </a:r>
            <a:endParaRPr lang="en-US" sz="1800" dirty="0"/>
          </a:p>
        </p:txBody>
      </p:sp>
      <p:sp>
        <p:nvSpPr>
          <p:cNvPr id="12" name="Shape 10"/>
          <p:cNvSpPr/>
          <p:nvPr/>
        </p:nvSpPr>
        <p:spPr>
          <a:xfrm>
            <a:off x="7953375" y="6289243"/>
            <a:ext cx="5476875" cy="1328440"/>
          </a:xfrm>
          <a:prstGeom prst="rect">
            <a:avLst/>
          </a:prstGeom>
          <a:solidFill>
            <a:srgbClr val="F5C518"/>
          </a:solidFill>
          <a:ln/>
        </p:spPr>
        <p:txBody>
          <a:bodyPr/>
          <a:lstStyle/>
          <a:p>
            <a:endParaRPr lang="en-GB"/>
          </a:p>
        </p:txBody>
      </p:sp>
      <p:sp>
        <p:nvSpPr>
          <p:cNvPr id="13" name="Shape 11"/>
          <p:cNvSpPr/>
          <p:nvPr/>
        </p:nvSpPr>
        <p:spPr>
          <a:xfrm>
            <a:off x="7953375" y="7608158"/>
            <a:ext cx="5476875" cy="9525"/>
          </a:xfrm>
          <a:prstGeom prst="rect">
            <a:avLst/>
          </a:prstGeom>
          <a:solidFill>
            <a:srgbClr val="E4E2DA"/>
          </a:solidFill>
          <a:ln/>
        </p:spPr>
        <p:txBody>
          <a:bodyPr/>
          <a:lstStyle/>
          <a:p>
            <a:endParaRPr lang="en-GB"/>
          </a:p>
        </p:txBody>
      </p:sp>
      <p:sp>
        <p:nvSpPr>
          <p:cNvPr id="14" name="Shape 12"/>
          <p:cNvSpPr/>
          <p:nvPr/>
        </p:nvSpPr>
        <p:spPr>
          <a:xfrm>
            <a:off x="7953375" y="6289243"/>
            <a:ext cx="5476875" cy="9525"/>
          </a:xfrm>
          <a:prstGeom prst="rect">
            <a:avLst/>
          </a:prstGeom>
          <a:solidFill>
            <a:srgbClr val="E4E2DA"/>
          </a:solidFill>
          <a:ln/>
        </p:spPr>
        <p:txBody>
          <a:bodyPr/>
          <a:lstStyle/>
          <a:p>
            <a:endParaRPr lang="en-GB"/>
          </a:p>
        </p:txBody>
      </p:sp>
      <p:sp>
        <p:nvSpPr>
          <p:cNvPr id="15" name="Shape 13"/>
          <p:cNvSpPr/>
          <p:nvPr/>
        </p:nvSpPr>
        <p:spPr>
          <a:xfrm>
            <a:off x="13420725" y="6289243"/>
            <a:ext cx="9525" cy="1328440"/>
          </a:xfrm>
          <a:prstGeom prst="rect">
            <a:avLst/>
          </a:prstGeom>
          <a:solidFill>
            <a:srgbClr val="E4E2DA"/>
          </a:solidFill>
          <a:ln/>
        </p:spPr>
        <p:txBody>
          <a:bodyPr/>
          <a:lstStyle/>
          <a:p>
            <a:endParaRPr lang="en-GB"/>
          </a:p>
        </p:txBody>
      </p:sp>
      <p:sp>
        <p:nvSpPr>
          <p:cNvPr id="16" name="Text 14"/>
          <p:cNvSpPr/>
          <p:nvPr/>
        </p:nvSpPr>
        <p:spPr>
          <a:xfrm>
            <a:off x="8258175" y="6584518"/>
            <a:ext cx="534352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5A4D00"/>
                </a:solidFill>
                <a:latin typeface="Courier New" pitchFamily="34" charset="0"/>
                <a:ea typeface="Courier New" pitchFamily="34" charset="-122"/>
                <a:cs typeface="Courier New" pitchFamily="34" charset="-120"/>
              </a:rPr>
              <a:t>UČENJE / AI</a:t>
            </a:r>
            <a:endParaRPr lang="en-US" sz="1800" dirty="0"/>
          </a:p>
        </p:txBody>
      </p:sp>
      <p:sp>
        <p:nvSpPr>
          <p:cNvPr id="17" name="Text 15"/>
          <p:cNvSpPr/>
          <p:nvPr/>
        </p:nvSpPr>
        <p:spPr>
          <a:xfrm>
            <a:off x="8258175" y="6980698"/>
            <a:ext cx="5343525" cy="379809"/>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1950" dirty="0">
                <a:solidFill>
                  <a:srgbClr val="15140F"/>
                </a:solidFill>
                <a:latin typeface="Helvetica" pitchFamily="34" charset="0"/>
                <a:ea typeface="Helvetica" pitchFamily="34" charset="-122"/>
                <a:cs typeface="Helvetica" pitchFamily="34" charset="-120"/>
              </a:rPr>
              <a:t>Prilagodljivo — ali neobjašnjivo.</a:t>
            </a:r>
            <a:endParaRPr lang="en-US" sz="1950" dirty="0"/>
          </a:p>
        </p:txBody>
      </p:sp>
      <p:sp>
        <p:nvSpPr>
          <p:cNvPr id="18" name="Shape 16"/>
          <p:cNvSpPr/>
          <p:nvPr/>
        </p:nvSpPr>
        <p:spPr>
          <a:xfrm>
            <a:off x="1047750" y="9401175"/>
            <a:ext cx="16192500" cy="9525"/>
          </a:xfrm>
          <a:prstGeom prst="rect">
            <a:avLst/>
          </a:prstGeom>
          <a:solidFill>
            <a:srgbClr val="E4E2DA"/>
          </a:solidFill>
          <a:ln/>
        </p:spPr>
        <p:txBody>
          <a:bodyPr/>
          <a:lstStyle/>
          <a:p>
            <a:endParaRPr lang="en-GB"/>
          </a:p>
        </p:txBody>
      </p:sp>
      <p:sp>
        <p:nvSpPr>
          <p:cNvPr id="19" name="Text 17"/>
          <p:cNvSpPr/>
          <p:nvPr/>
        </p:nvSpPr>
        <p:spPr>
          <a:xfrm>
            <a:off x="1047750" y="9582150"/>
            <a:ext cx="4716021"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SIGURNOST HUMANOIDNIH ROBOTA</a:t>
            </a:r>
            <a:endParaRPr lang="en-US" sz="1800" dirty="0"/>
          </a:p>
        </p:txBody>
      </p:sp>
      <p:sp>
        <p:nvSpPr>
          <p:cNvPr id="20" name="Text 18"/>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293144"/>
            <a:ext cx="8570595"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ZAŠTO HUMANOIDI, ZAŠTO SAD</a:t>
            </a:r>
            <a:endParaRPr lang="en-US" sz="1800" dirty="0"/>
          </a:p>
        </p:txBody>
      </p:sp>
      <p:sp>
        <p:nvSpPr>
          <p:cNvPr id="3" name="Text 1"/>
          <p:cNvSpPr/>
          <p:nvPr/>
        </p:nvSpPr>
        <p:spPr>
          <a:xfrm>
            <a:off x="1047750" y="2940844"/>
            <a:ext cx="7104056" cy="1916013"/>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Svijet je građen za ljudsko tijelo — pa i roboti postaju ljudoliki.</a:t>
            </a:r>
            <a:endParaRPr lang="en-US" sz="4650" dirty="0"/>
          </a:p>
        </p:txBody>
      </p:sp>
      <p:sp>
        <p:nvSpPr>
          <p:cNvPr id="4" name="Text 2"/>
          <p:cNvSpPr/>
          <p:nvPr/>
        </p:nvSpPr>
        <p:spPr>
          <a:xfrm>
            <a:off x="1047750" y="5257120"/>
            <a:ext cx="4910587" cy="836116"/>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2250" dirty="0">
                <a:solidFill>
                  <a:srgbClr val="9A968B"/>
                </a:solidFill>
                <a:latin typeface="Courier New" pitchFamily="34" charset="0"/>
                <a:ea typeface="Courier New" pitchFamily="34" charset="-122"/>
                <a:cs typeface="Courier New" pitchFamily="34" charset="-120"/>
              </a:rPr>
              <a:t>01 </a:t>
            </a:r>
            <a:r>
              <a:rPr lang="en-US" sz="2250" dirty="0">
                <a:solidFill>
                  <a:srgbClr val="15140F"/>
                </a:solidFill>
                <a:latin typeface="Helvetica" pitchFamily="34" charset="0"/>
                <a:ea typeface="Helvetica" pitchFamily="34" charset="-122"/>
                <a:cs typeface="Helvetica" pitchFamily="34" charset="-120"/>
              </a:rPr>
              <a:t>Demografsko starenje i manjak radne snage</a:t>
            </a:r>
            <a:endParaRPr lang="en-US" sz="2250" dirty="0"/>
          </a:p>
        </p:txBody>
      </p:sp>
      <p:sp>
        <p:nvSpPr>
          <p:cNvPr id="5" name="Text 3"/>
          <p:cNvSpPr/>
          <p:nvPr/>
        </p:nvSpPr>
        <p:spPr>
          <a:xfrm>
            <a:off x="1047750" y="6226586"/>
            <a:ext cx="4910587" cy="836116"/>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2250" dirty="0">
                <a:solidFill>
                  <a:srgbClr val="9A968B"/>
                </a:solidFill>
                <a:latin typeface="Courier New" pitchFamily="34" charset="0"/>
                <a:ea typeface="Courier New" pitchFamily="34" charset="-122"/>
                <a:cs typeface="Courier New" pitchFamily="34" charset="-120"/>
              </a:rPr>
              <a:t>02 </a:t>
            </a:r>
            <a:r>
              <a:rPr lang="en-US" sz="2250" dirty="0">
                <a:solidFill>
                  <a:srgbClr val="15140F"/>
                </a:solidFill>
                <a:latin typeface="Helvetica" pitchFamily="34" charset="0"/>
                <a:ea typeface="Helvetica" pitchFamily="34" charset="-122"/>
                <a:cs typeface="Helvetica" pitchFamily="34" charset="-120"/>
              </a:rPr>
              <a:t>Uklanjanje ljudi iz opasnih i repetitivnih poslova</a:t>
            </a:r>
            <a:endParaRPr lang="en-US" sz="2250" dirty="0"/>
          </a:p>
        </p:txBody>
      </p:sp>
      <p:sp>
        <p:nvSpPr>
          <p:cNvPr id="6" name="Text 4"/>
          <p:cNvSpPr/>
          <p:nvPr/>
        </p:nvSpPr>
        <p:spPr>
          <a:xfrm>
            <a:off x="1047750" y="7196053"/>
            <a:ext cx="4910587" cy="836116"/>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2250" dirty="0">
                <a:solidFill>
                  <a:srgbClr val="9A968B"/>
                </a:solidFill>
                <a:latin typeface="Courier New" pitchFamily="34" charset="0"/>
                <a:ea typeface="Courier New" pitchFamily="34" charset="-122"/>
                <a:cs typeface="Courier New" pitchFamily="34" charset="-120"/>
              </a:rPr>
              <a:t>03 </a:t>
            </a:r>
            <a:r>
              <a:rPr lang="en-US" sz="2250" dirty="0">
                <a:solidFill>
                  <a:srgbClr val="15140F"/>
                </a:solidFill>
                <a:latin typeface="Helvetica" pitchFamily="34" charset="0"/>
                <a:ea typeface="Helvetica" pitchFamily="34" charset="-122"/>
                <a:cs typeface="Helvetica" pitchFamily="34" charset="-120"/>
              </a:rPr>
              <a:t>Postojeća infrastruktura ne treba skupe preinake</a:t>
            </a:r>
            <a:endParaRPr lang="en-US" sz="2250" dirty="0"/>
          </a:p>
        </p:txBody>
      </p:sp>
      <p:sp>
        <p:nvSpPr>
          <p:cNvPr id="7" name="Shape 5"/>
          <p:cNvSpPr/>
          <p:nvPr/>
        </p:nvSpPr>
        <p:spPr>
          <a:xfrm>
            <a:off x="9448800" y="1524213"/>
            <a:ext cx="7791450" cy="7239000"/>
          </a:xfrm>
          <a:prstGeom prst="rect">
            <a:avLst/>
          </a:prstGeom>
          <a:solidFill>
            <a:srgbClr val="FFFFFF"/>
          </a:solidFill>
          <a:ln w="9525">
            <a:solidFill>
              <a:srgbClr val="E4E2DA"/>
            </a:solidFill>
            <a:prstDash val="solid"/>
          </a:ln>
        </p:spPr>
        <p:txBody>
          <a:bodyPr/>
          <a:lstStyle/>
          <a:p>
            <a:endParaRPr lang="en-GB"/>
          </a:p>
        </p:txBody>
      </p:sp>
      <p:pic>
        <p:nvPicPr>
          <p:cNvPr id="8" name="Image 0" descr="preencoded.png"/>
          <p:cNvPicPr>
            <a:picLocks noChangeAspect="1"/>
          </p:cNvPicPr>
          <p:nvPr/>
        </p:nvPicPr>
        <p:blipFill>
          <a:blip r:embed="rId3"/>
          <a:srcRect/>
          <a:stretch/>
        </p:blipFill>
        <p:spPr>
          <a:xfrm>
            <a:off x="9448800" y="1524213"/>
            <a:ext cx="7791450" cy="7239000"/>
          </a:xfrm>
          <a:prstGeom prst="rect">
            <a:avLst/>
          </a:prstGeom>
        </p:spPr>
      </p:pic>
      <p:sp>
        <p:nvSpPr>
          <p:cNvPr id="9" name="Shape 6"/>
          <p:cNvSpPr/>
          <p:nvPr/>
        </p:nvSpPr>
        <p:spPr>
          <a:xfrm>
            <a:off x="1047750" y="9401175"/>
            <a:ext cx="16192500" cy="9525"/>
          </a:xfrm>
          <a:prstGeom prst="rect">
            <a:avLst/>
          </a:prstGeom>
          <a:solidFill>
            <a:srgbClr val="E4E2DA"/>
          </a:solidFill>
          <a:ln/>
        </p:spPr>
        <p:txBody>
          <a:bodyPr/>
          <a:lstStyle/>
          <a:p>
            <a:endParaRPr lang="en-GB"/>
          </a:p>
        </p:txBody>
      </p:sp>
      <p:sp>
        <p:nvSpPr>
          <p:cNvPr id="10" name="Text 7"/>
          <p:cNvSpPr/>
          <p:nvPr/>
        </p:nvSpPr>
        <p:spPr>
          <a:xfrm>
            <a:off x="1047750" y="9582150"/>
            <a:ext cx="906556"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UVOD</a:t>
            </a:r>
            <a:endParaRPr lang="en-US" sz="1800" dirty="0"/>
          </a:p>
        </p:txBody>
      </p:sp>
      <p:sp>
        <p:nvSpPr>
          <p:cNvPr id="11" name="Text 8"/>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887712"/>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AUTONOMIJA I KOMPLEKSNOST · 01</a:t>
            </a:r>
            <a:endParaRPr lang="en-US" sz="1800" dirty="0"/>
          </a:p>
        </p:txBody>
      </p:sp>
      <p:sp>
        <p:nvSpPr>
          <p:cNvPr id="3" name="Text 1"/>
          <p:cNvSpPr/>
          <p:nvPr/>
        </p:nvSpPr>
        <p:spPr>
          <a:xfrm>
            <a:off x="1047750" y="3535412"/>
            <a:ext cx="7104056" cy="129004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Autonomija nije prekidač, nego spektar.</a:t>
            </a:r>
            <a:endParaRPr lang="en-US" sz="4650" dirty="0"/>
          </a:p>
        </p:txBody>
      </p:sp>
      <p:sp>
        <p:nvSpPr>
          <p:cNvPr id="4" name="Shape 2"/>
          <p:cNvSpPr/>
          <p:nvPr/>
        </p:nvSpPr>
        <p:spPr>
          <a:xfrm>
            <a:off x="1047750" y="5340019"/>
            <a:ext cx="16192500" cy="1475929"/>
          </a:xfrm>
          <a:prstGeom prst="rect">
            <a:avLst/>
          </a:prstGeom>
          <a:ln w="9525">
            <a:solidFill>
              <a:srgbClr val="1A1813"/>
            </a:solidFill>
            <a:prstDash val="solid"/>
          </a:ln>
        </p:spPr>
        <p:txBody>
          <a:bodyPr/>
          <a:lstStyle/>
          <a:p>
            <a:endParaRPr lang="en-GB"/>
          </a:p>
        </p:txBody>
      </p:sp>
      <p:sp>
        <p:nvSpPr>
          <p:cNvPr id="5" name="Shape 3"/>
          <p:cNvSpPr/>
          <p:nvPr/>
        </p:nvSpPr>
        <p:spPr>
          <a:xfrm>
            <a:off x="1057275" y="5349544"/>
            <a:ext cx="5394275" cy="1456879"/>
          </a:xfrm>
          <a:prstGeom prst="rect">
            <a:avLst/>
          </a:prstGeom>
          <a:solidFill>
            <a:srgbClr val="FFFFFF"/>
          </a:solidFill>
          <a:ln/>
        </p:spPr>
        <p:txBody>
          <a:bodyPr/>
          <a:lstStyle/>
          <a:p>
            <a:endParaRPr lang="en-GB"/>
          </a:p>
        </p:txBody>
      </p:sp>
      <p:sp>
        <p:nvSpPr>
          <p:cNvPr id="6" name="Shape 4"/>
          <p:cNvSpPr/>
          <p:nvPr/>
        </p:nvSpPr>
        <p:spPr>
          <a:xfrm>
            <a:off x="6442025" y="5349544"/>
            <a:ext cx="9525" cy="1456879"/>
          </a:xfrm>
          <a:prstGeom prst="rect">
            <a:avLst/>
          </a:prstGeom>
          <a:solidFill>
            <a:srgbClr val="1A1813"/>
          </a:solidFill>
          <a:ln/>
        </p:spPr>
        <p:txBody>
          <a:bodyPr/>
          <a:lstStyle/>
          <a:p>
            <a:endParaRPr lang="en-GB"/>
          </a:p>
        </p:txBody>
      </p:sp>
      <p:sp>
        <p:nvSpPr>
          <p:cNvPr id="7" name="Text 5"/>
          <p:cNvSpPr/>
          <p:nvPr/>
        </p:nvSpPr>
        <p:spPr>
          <a:xfrm>
            <a:off x="1285875" y="5559094"/>
            <a:ext cx="54203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TELEOPERACIJA</a:t>
            </a:r>
            <a:endParaRPr lang="en-US" sz="1800" dirty="0"/>
          </a:p>
        </p:txBody>
      </p:sp>
      <p:sp>
        <p:nvSpPr>
          <p:cNvPr id="8" name="Text 6"/>
          <p:cNvSpPr/>
          <p:nvPr/>
        </p:nvSpPr>
        <p:spPr>
          <a:xfrm>
            <a:off x="1285875" y="5901994"/>
            <a:ext cx="5420305"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Čovjek diktira svaki pokret</a:t>
            </a:r>
            <a:endParaRPr lang="en-US" sz="2100" dirty="0"/>
          </a:p>
        </p:txBody>
      </p:sp>
      <p:sp>
        <p:nvSpPr>
          <p:cNvPr id="9" name="Text 7"/>
          <p:cNvSpPr/>
          <p:nvPr/>
        </p:nvSpPr>
        <p:spPr>
          <a:xfrm>
            <a:off x="1285875" y="6276892"/>
            <a:ext cx="54203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Sigurno, ali sporo i ne oslobađa rad.</a:t>
            </a:r>
            <a:endParaRPr lang="en-US" sz="1800" dirty="0"/>
          </a:p>
        </p:txBody>
      </p:sp>
      <p:sp>
        <p:nvSpPr>
          <p:cNvPr id="10" name="Shape 8"/>
          <p:cNvSpPr/>
          <p:nvPr/>
        </p:nvSpPr>
        <p:spPr>
          <a:xfrm>
            <a:off x="6451550" y="5349544"/>
            <a:ext cx="5394424" cy="1456879"/>
          </a:xfrm>
          <a:prstGeom prst="rect">
            <a:avLst/>
          </a:prstGeom>
          <a:solidFill>
            <a:srgbClr val="F5C518"/>
          </a:solidFill>
          <a:ln/>
        </p:spPr>
        <p:txBody>
          <a:bodyPr/>
          <a:lstStyle/>
          <a:p>
            <a:endParaRPr lang="en-GB"/>
          </a:p>
        </p:txBody>
      </p:sp>
      <p:sp>
        <p:nvSpPr>
          <p:cNvPr id="11" name="Shape 9"/>
          <p:cNvSpPr/>
          <p:nvPr/>
        </p:nvSpPr>
        <p:spPr>
          <a:xfrm>
            <a:off x="11836450" y="5349544"/>
            <a:ext cx="9525" cy="1456879"/>
          </a:xfrm>
          <a:prstGeom prst="rect">
            <a:avLst/>
          </a:prstGeom>
          <a:solidFill>
            <a:srgbClr val="1A1813"/>
          </a:solidFill>
          <a:ln/>
        </p:spPr>
        <p:txBody>
          <a:bodyPr/>
          <a:lstStyle/>
          <a:p>
            <a:endParaRPr lang="en-GB"/>
          </a:p>
        </p:txBody>
      </p:sp>
      <p:sp>
        <p:nvSpPr>
          <p:cNvPr id="12" name="Text 10"/>
          <p:cNvSpPr/>
          <p:nvPr/>
        </p:nvSpPr>
        <p:spPr>
          <a:xfrm>
            <a:off x="6680150" y="5559094"/>
            <a:ext cx="542046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5A4D00"/>
                </a:solidFill>
                <a:latin typeface="Courier New" pitchFamily="34" charset="0"/>
                <a:ea typeface="Courier New" pitchFamily="34" charset="-122"/>
                <a:cs typeface="Courier New" pitchFamily="34" charset="-120"/>
              </a:rPr>
              <a:t>PROMJENJIVA AUTONOMIJA</a:t>
            </a:r>
            <a:endParaRPr lang="en-US" sz="1800" dirty="0"/>
          </a:p>
        </p:txBody>
      </p:sp>
      <p:sp>
        <p:nvSpPr>
          <p:cNvPr id="13" name="Text 11"/>
          <p:cNvSpPr/>
          <p:nvPr/>
        </p:nvSpPr>
        <p:spPr>
          <a:xfrm>
            <a:off x="6680150" y="5901994"/>
            <a:ext cx="5420469"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Kontrola se dijeli, čovjek u petlji</a:t>
            </a:r>
            <a:endParaRPr lang="en-US" sz="2100" dirty="0"/>
          </a:p>
        </p:txBody>
      </p:sp>
      <p:sp>
        <p:nvSpPr>
          <p:cNvPr id="14" name="Text 12"/>
          <p:cNvSpPr/>
          <p:nvPr/>
        </p:nvSpPr>
        <p:spPr>
          <a:xfrm>
            <a:off x="6680150" y="6276892"/>
            <a:ext cx="542046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4D00"/>
                </a:solidFill>
                <a:latin typeface="Helvetica" pitchFamily="34" charset="0"/>
                <a:ea typeface="Helvetica" pitchFamily="34" charset="-122"/>
                <a:cs typeface="Helvetica" pitchFamily="34" charset="-120"/>
              </a:rPr>
              <a:t>Praktičan inženjerski kompromis.</a:t>
            </a:r>
            <a:endParaRPr lang="en-US" sz="1800" dirty="0"/>
          </a:p>
        </p:txBody>
      </p:sp>
      <p:sp>
        <p:nvSpPr>
          <p:cNvPr id="15" name="Shape 13"/>
          <p:cNvSpPr/>
          <p:nvPr/>
        </p:nvSpPr>
        <p:spPr>
          <a:xfrm>
            <a:off x="11845975" y="5349544"/>
            <a:ext cx="5384750" cy="1456879"/>
          </a:xfrm>
          <a:prstGeom prst="rect">
            <a:avLst/>
          </a:prstGeom>
          <a:solidFill>
            <a:srgbClr val="FFFFFF"/>
          </a:solidFill>
          <a:ln/>
        </p:spPr>
        <p:txBody>
          <a:bodyPr/>
          <a:lstStyle/>
          <a:p>
            <a:endParaRPr lang="en-GB"/>
          </a:p>
        </p:txBody>
      </p:sp>
      <p:sp>
        <p:nvSpPr>
          <p:cNvPr id="16" name="Text 14"/>
          <p:cNvSpPr/>
          <p:nvPr/>
        </p:nvSpPr>
        <p:spPr>
          <a:xfrm>
            <a:off x="12074575" y="5559094"/>
            <a:ext cx="542030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POTPUNA AUTONOMIJA</a:t>
            </a:r>
            <a:endParaRPr lang="en-US" sz="1800" dirty="0"/>
          </a:p>
        </p:txBody>
      </p:sp>
      <p:sp>
        <p:nvSpPr>
          <p:cNvPr id="17" name="Text 15"/>
          <p:cNvSpPr/>
          <p:nvPr/>
        </p:nvSpPr>
        <p:spPr>
          <a:xfrm>
            <a:off x="12074575" y="5901994"/>
            <a:ext cx="5420305"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Robot percipira, planira i izvršava sam</a:t>
            </a:r>
            <a:endParaRPr lang="en-US" sz="2100" dirty="0"/>
          </a:p>
        </p:txBody>
      </p:sp>
      <p:sp>
        <p:nvSpPr>
          <p:cNvPr id="18" name="Text 16"/>
          <p:cNvSpPr/>
          <p:nvPr/>
        </p:nvSpPr>
        <p:spPr>
          <a:xfrm>
            <a:off x="12074575" y="6276892"/>
            <a:ext cx="54203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Najmanje prostora za intervenciju.</a:t>
            </a:r>
            <a:endParaRPr lang="en-US" sz="1800" dirty="0"/>
          </a:p>
        </p:txBody>
      </p:sp>
      <p:sp>
        <p:nvSpPr>
          <p:cNvPr id="19" name="Text 17"/>
          <p:cNvSpPr/>
          <p:nvPr/>
        </p:nvSpPr>
        <p:spPr>
          <a:xfrm>
            <a:off x="1047750" y="7061961"/>
            <a:ext cx="2073890" cy="358080"/>
          </a:xfrm>
          <a:prstGeom prst="rect">
            <a:avLst/>
          </a:prstGeom>
          <a:noFill/>
          <a:ln/>
        </p:spPr>
        <p:txBody>
          <a:bodyPr wrap="non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Courier New" pitchFamily="34" charset="0"/>
                <a:ea typeface="Courier New" pitchFamily="34" charset="-122"/>
                <a:cs typeface="Courier New" pitchFamily="34" charset="-120"/>
              </a:rPr>
              <a:t>RIZIK ZADATKA →</a:t>
            </a:r>
            <a:endParaRPr lang="en-US" sz="1800" dirty="0"/>
          </a:p>
        </p:txBody>
      </p:sp>
      <p:sp>
        <p:nvSpPr>
          <p:cNvPr id="20" name="Text 18"/>
          <p:cNvSpPr/>
          <p:nvPr/>
        </p:nvSpPr>
        <p:spPr>
          <a:xfrm>
            <a:off x="3104555" y="7044548"/>
            <a:ext cx="9856708" cy="392906"/>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2025" dirty="0">
                <a:solidFill>
                  <a:srgbClr val="15140F"/>
                </a:solidFill>
                <a:latin typeface="Helvetica" pitchFamily="34" charset="0"/>
                <a:ea typeface="Helvetica" pitchFamily="34" charset="-122"/>
                <a:cs typeface="Helvetica" pitchFamily="34" charset="-120"/>
              </a:rPr>
              <a:t>Razinu autonomije treba </a:t>
            </a:r>
            <a:r>
              <a:rPr lang="en-US" sz="2025" dirty="0">
                <a:solidFill>
                  <a:srgbClr val="15140F"/>
                </a:solidFill>
                <a:highlight>
                  <a:srgbClr val="F5C518"/>
                </a:highlight>
                <a:latin typeface="Helvetica" pitchFamily="34" charset="0"/>
                <a:ea typeface="Helvetica" pitchFamily="34" charset="-122"/>
                <a:cs typeface="Helvetica" pitchFamily="34" charset="-120"/>
              </a:rPr>
              <a:t>uskladiti s rizikom</a:t>
            </a:r>
            <a:r>
              <a:rPr lang="en-US" sz="2025" dirty="0">
                <a:solidFill>
                  <a:srgbClr val="15140F"/>
                </a:solidFill>
                <a:latin typeface="Helvetica" pitchFamily="34" charset="0"/>
                <a:ea typeface="Helvetica" pitchFamily="34" charset="-122"/>
                <a:cs typeface="Helvetica" pitchFamily="34" charset="-120"/>
              </a:rPr>
              <a:t>: visok rizik traži jači ljudski nadzor.</a:t>
            </a:r>
            <a:endParaRPr lang="en-US" sz="2025" dirty="0"/>
          </a:p>
        </p:txBody>
      </p:sp>
      <p:sp>
        <p:nvSpPr>
          <p:cNvPr id="21" name="Shape 19"/>
          <p:cNvSpPr/>
          <p:nvPr/>
        </p:nvSpPr>
        <p:spPr>
          <a:xfrm>
            <a:off x="1047750" y="9401175"/>
            <a:ext cx="16192500" cy="9525"/>
          </a:xfrm>
          <a:prstGeom prst="rect">
            <a:avLst/>
          </a:prstGeom>
          <a:solidFill>
            <a:srgbClr val="E4E2DA"/>
          </a:solidFill>
          <a:ln/>
        </p:spPr>
        <p:txBody>
          <a:bodyPr/>
          <a:lstStyle/>
          <a:p>
            <a:endParaRPr lang="en-GB"/>
          </a:p>
        </p:txBody>
      </p:sp>
      <p:sp>
        <p:nvSpPr>
          <p:cNvPr id="22" name="Text 20"/>
          <p:cNvSpPr/>
          <p:nvPr/>
        </p:nvSpPr>
        <p:spPr>
          <a:xfrm>
            <a:off x="1047750" y="9582150"/>
            <a:ext cx="42108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AUTONOMIJA I KOMPLEKSNOST</a:t>
            </a:r>
            <a:endParaRPr lang="en-US" sz="1800" dirty="0"/>
          </a:p>
        </p:txBody>
      </p:sp>
      <p:sp>
        <p:nvSpPr>
          <p:cNvPr id="23" name="Text 21"/>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125414"/>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AUTONOMIJA I KOMPLEKSNOST · 02</a:t>
            </a:r>
            <a:endParaRPr lang="en-US" sz="1800" dirty="0"/>
          </a:p>
        </p:txBody>
      </p:sp>
      <p:sp>
        <p:nvSpPr>
          <p:cNvPr id="3" name="Text 1"/>
          <p:cNvSpPr/>
          <p:nvPr/>
        </p:nvSpPr>
        <p:spPr>
          <a:xfrm>
            <a:off x="1047750" y="2773114"/>
            <a:ext cx="7104056" cy="1916013"/>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Svaka odluka mora zatvoriti petlju u nekoliko milisekundi.</a:t>
            </a:r>
            <a:endParaRPr lang="en-US" sz="4650" dirty="0"/>
          </a:p>
        </p:txBody>
      </p:sp>
      <p:sp>
        <p:nvSpPr>
          <p:cNvPr id="4" name="Shape 2"/>
          <p:cNvSpPr/>
          <p:nvPr/>
        </p:nvSpPr>
        <p:spPr>
          <a:xfrm>
            <a:off x="1047750" y="5165492"/>
            <a:ext cx="3548063" cy="1795909"/>
          </a:xfrm>
          <a:prstGeom prst="rect">
            <a:avLst/>
          </a:prstGeom>
          <a:solidFill>
            <a:srgbClr val="FFFFFF"/>
          </a:solidFill>
          <a:ln w="9525">
            <a:solidFill>
              <a:srgbClr val="1A1813"/>
            </a:solidFill>
            <a:prstDash val="solid"/>
          </a:ln>
        </p:spPr>
        <p:txBody>
          <a:bodyPr/>
          <a:lstStyle/>
          <a:p>
            <a:endParaRPr lang="en-GB"/>
          </a:p>
        </p:txBody>
      </p:sp>
      <p:sp>
        <p:nvSpPr>
          <p:cNvPr id="5" name="Text 3"/>
          <p:cNvSpPr/>
          <p:nvPr/>
        </p:nvSpPr>
        <p:spPr>
          <a:xfrm>
            <a:off x="1285875" y="5384567"/>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PERCEPCIJA</a:t>
            </a:r>
            <a:endParaRPr lang="en-US" sz="1800" dirty="0"/>
          </a:p>
        </p:txBody>
      </p:sp>
      <p:sp>
        <p:nvSpPr>
          <p:cNvPr id="6" name="Text 4"/>
          <p:cNvSpPr/>
          <p:nvPr/>
        </p:nvSpPr>
        <p:spPr>
          <a:xfrm>
            <a:off x="1285875" y="5727467"/>
            <a:ext cx="3378994"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Fuzija senzora</a:t>
            </a:r>
            <a:endParaRPr lang="en-US" sz="2100" dirty="0"/>
          </a:p>
        </p:txBody>
      </p:sp>
      <p:sp>
        <p:nvSpPr>
          <p:cNvPr id="7" name="Text 5"/>
          <p:cNvSpPr/>
          <p:nvPr/>
        </p:nvSpPr>
        <p:spPr>
          <a:xfrm>
            <a:off x="1285875" y="6102365"/>
            <a:ext cx="3163967"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Kamere, LiDAR, IMU, taktilni → Kalmanov filtar</a:t>
            </a:r>
            <a:endParaRPr lang="en-US" sz="1800" dirty="0"/>
          </a:p>
        </p:txBody>
      </p:sp>
      <p:sp>
        <p:nvSpPr>
          <p:cNvPr id="8" name="Text 6"/>
          <p:cNvSpPr/>
          <p:nvPr/>
        </p:nvSpPr>
        <p:spPr>
          <a:xfrm>
            <a:off x="4767263" y="5877634"/>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9" name="Shape 7"/>
          <p:cNvSpPr/>
          <p:nvPr/>
        </p:nvSpPr>
        <p:spPr>
          <a:xfrm>
            <a:off x="5262563" y="5165492"/>
            <a:ext cx="3548063" cy="1795909"/>
          </a:xfrm>
          <a:prstGeom prst="rect">
            <a:avLst/>
          </a:prstGeom>
          <a:solidFill>
            <a:srgbClr val="FFFFFF"/>
          </a:solidFill>
          <a:ln w="9525">
            <a:solidFill>
              <a:srgbClr val="1A1813"/>
            </a:solidFill>
            <a:prstDash val="solid"/>
          </a:ln>
        </p:spPr>
        <p:txBody>
          <a:bodyPr/>
          <a:lstStyle/>
          <a:p>
            <a:endParaRPr lang="en-GB"/>
          </a:p>
        </p:txBody>
      </p:sp>
      <p:sp>
        <p:nvSpPr>
          <p:cNvPr id="10" name="Text 8"/>
          <p:cNvSpPr/>
          <p:nvPr/>
        </p:nvSpPr>
        <p:spPr>
          <a:xfrm>
            <a:off x="5500688" y="5384567"/>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MODEL SVIJETA</a:t>
            </a:r>
            <a:endParaRPr lang="en-US" sz="1800" dirty="0"/>
          </a:p>
        </p:txBody>
      </p:sp>
      <p:sp>
        <p:nvSpPr>
          <p:cNvPr id="11" name="Text 9"/>
          <p:cNvSpPr/>
          <p:nvPr/>
        </p:nvSpPr>
        <p:spPr>
          <a:xfrm>
            <a:off x="5500688" y="5727467"/>
            <a:ext cx="3378994"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Procjena stanja</a:t>
            </a:r>
            <a:endParaRPr lang="en-US" sz="2100" dirty="0"/>
          </a:p>
        </p:txBody>
      </p:sp>
      <p:sp>
        <p:nvSpPr>
          <p:cNvPr id="12" name="Text 10"/>
          <p:cNvSpPr/>
          <p:nvPr/>
        </p:nvSpPr>
        <p:spPr>
          <a:xfrm>
            <a:off x="5500688" y="6102365"/>
            <a:ext cx="3163967"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Stanje tijela i okoline iz šumovitih očitanja</a:t>
            </a:r>
            <a:endParaRPr lang="en-US" sz="1800" dirty="0"/>
          </a:p>
        </p:txBody>
      </p:sp>
      <p:sp>
        <p:nvSpPr>
          <p:cNvPr id="13" name="Text 11"/>
          <p:cNvSpPr/>
          <p:nvPr/>
        </p:nvSpPr>
        <p:spPr>
          <a:xfrm>
            <a:off x="8982075" y="5877634"/>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14" name="Shape 12"/>
          <p:cNvSpPr/>
          <p:nvPr/>
        </p:nvSpPr>
        <p:spPr>
          <a:xfrm>
            <a:off x="9477375" y="5165492"/>
            <a:ext cx="3548063" cy="1795909"/>
          </a:xfrm>
          <a:prstGeom prst="rect">
            <a:avLst/>
          </a:prstGeom>
          <a:solidFill>
            <a:srgbClr val="FFFFFF"/>
          </a:solidFill>
          <a:ln w="9525">
            <a:solidFill>
              <a:srgbClr val="1A1813"/>
            </a:solidFill>
            <a:prstDash val="solid"/>
          </a:ln>
        </p:spPr>
        <p:txBody>
          <a:bodyPr/>
          <a:lstStyle/>
          <a:p>
            <a:endParaRPr lang="en-GB"/>
          </a:p>
        </p:txBody>
      </p:sp>
      <p:sp>
        <p:nvSpPr>
          <p:cNvPr id="15" name="Text 13"/>
          <p:cNvSpPr/>
          <p:nvPr/>
        </p:nvSpPr>
        <p:spPr>
          <a:xfrm>
            <a:off x="9715500" y="5384567"/>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PLANIRANJE</a:t>
            </a:r>
            <a:endParaRPr lang="en-US" sz="1800" dirty="0"/>
          </a:p>
        </p:txBody>
      </p:sp>
      <p:sp>
        <p:nvSpPr>
          <p:cNvPr id="16" name="Text 14"/>
          <p:cNvSpPr/>
          <p:nvPr/>
        </p:nvSpPr>
        <p:spPr>
          <a:xfrm>
            <a:off x="9715500" y="5727467"/>
            <a:ext cx="3378994"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Referentna putanja</a:t>
            </a:r>
            <a:endParaRPr lang="en-US" sz="2100" dirty="0"/>
          </a:p>
        </p:txBody>
      </p:sp>
      <p:sp>
        <p:nvSpPr>
          <p:cNvPr id="17" name="Text 15"/>
          <p:cNvSpPr/>
          <p:nvPr/>
        </p:nvSpPr>
        <p:spPr>
          <a:xfrm>
            <a:off x="9715500" y="6102365"/>
            <a:ext cx="337899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Cilj → izvediva putanja tijela</a:t>
            </a:r>
            <a:endParaRPr lang="en-US" sz="1800" dirty="0"/>
          </a:p>
        </p:txBody>
      </p:sp>
      <p:sp>
        <p:nvSpPr>
          <p:cNvPr id="18" name="Text 16"/>
          <p:cNvSpPr/>
          <p:nvPr/>
        </p:nvSpPr>
        <p:spPr>
          <a:xfrm>
            <a:off x="13196888" y="5877634"/>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19" name="Shape 17"/>
          <p:cNvSpPr/>
          <p:nvPr/>
        </p:nvSpPr>
        <p:spPr>
          <a:xfrm>
            <a:off x="13692188" y="5165492"/>
            <a:ext cx="3548063" cy="1795909"/>
          </a:xfrm>
          <a:prstGeom prst="rect">
            <a:avLst/>
          </a:prstGeom>
          <a:solidFill>
            <a:srgbClr val="F5C518"/>
          </a:solidFill>
          <a:ln w="9525">
            <a:solidFill>
              <a:srgbClr val="15140F"/>
            </a:solidFill>
            <a:prstDash val="solid"/>
          </a:ln>
        </p:spPr>
        <p:txBody>
          <a:bodyPr/>
          <a:lstStyle/>
          <a:p>
            <a:endParaRPr lang="en-GB"/>
          </a:p>
        </p:txBody>
      </p:sp>
      <p:sp>
        <p:nvSpPr>
          <p:cNvPr id="20" name="Text 18"/>
          <p:cNvSpPr/>
          <p:nvPr/>
        </p:nvSpPr>
        <p:spPr>
          <a:xfrm>
            <a:off x="13930313" y="5384567"/>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5A4D00"/>
                </a:solidFill>
                <a:latin typeface="Courier New" pitchFamily="34" charset="0"/>
                <a:ea typeface="Courier New" pitchFamily="34" charset="-122"/>
                <a:cs typeface="Courier New" pitchFamily="34" charset="-120"/>
              </a:rPr>
              <a:t>REGULACIJA</a:t>
            </a:r>
            <a:endParaRPr lang="en-US" sz="1800" dirty="0"/>
          </a:p>
        </p:txBody>
      </p:sp>
      <p:sp>
        <p:nvSpPr>
          <p:cNvPr id="21" name="Text 19"/>
          <p:cNvSpPr/>
          <p:nvPr/>
        </p:nvSpPr>
        <p:spPr>
          <a:xfrm>
            <a:off x="13930313" y="5727467"/>
            <a:ext cx="3378994"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Momenti zglobova</a:t>
            </a:r>
            <a:endParaRPr lang="en-US" sz="2100" dirty="0"/>
          </a:p>
        </p:txBody>
      </p:sp>
      <p:sp>
        <p:nvSpPr>
          <p:cNvPr id="22" name="Text 20"/>
          <p:cNvSpPr/>
          <p:nvPr/>
        </p:nvSpPr>
        <p:spPr>
          <a:xfrm>
            <a:off x="13930313" y="6102365"/>
            <a:ext cx="3163967"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4D00"/>
                </a:solidFill>
                <a:latin typeface="Helvetica" pitchFamily="34" charset="0"/>
                <a:ea typeface="Helvetica" pitchFamily="34" charset="-122"/>
                <a:cs typeface="Helvetica" pitchFamily="34" charset="-120"/>
              </a:rPr>
              <a:t>Putanja → moment za svaki aktuator</a:t>
            </a:r>
            <a:endParaRPr lang="en-US" sz="1800" dirty="0"/>
          </a:p>
        </p:txBody>
      </p:sp>
      <p:sp>
        <p:nvSpPr>
          <p:cNvPr id="23" name="Text 21"/>
          <p:cNvSpPr/>
          <p:nvPr/>
        </p:nvSpPr>
        <p:spPr>
          <a:xfrm>
            <a:off x="1047750" y="7590050"/>
            <a:ext cx="17811750"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6E6B62"/>
                </a:solidFill>
                <a:latin typeface="Helvetica" pitchFamily="34" charset="0"/>
                <a:ea typeface="Helvetica" pitchFamily="34" charset="-122"/>
                <a:cs typeface="Helvetica" pitchFamily="34" charset="-120"/>
              </a:rPr>
              <a:t>Pogreška procjene stanja izravno ulazi u regulaciju ravnoteže — nepouzdana percepcija je glavni izvor otkazivanja.</a:t>
            </a:r>
            <a:endParaRPr lang="en-US" sz="1875" dirty="0"/>
          </a:p>
        </p:txBody>
      </p:sp>
      <p:sp>
        <p:nvSpPr>
          <p:cNvPr id="24" name="Shape 22"/>
          <p:cNvSpPr/>
          <p:nvPr/>
        </p:nvSpPr>
        <p:spPr>
          <a:xfrm>
            <a:off x="1047750" y="9401175"/>
            <a:ext cx="16192500" cy="9525"/>
          </a:xfrm>
          <a:prstGeom prst="rect">
            <a:avLst/>
          </a:prstGeom>
          <a:solidFill>
            <a:srgbClr val="E4E2DA"/>
          </a:solidFill>
          <a:ln/>
        </p:spPr>
        <p:txBody>
          <a:bodyPr/>
          <a:lstStyle/>
          <a:p>
            <a:endParaRPr lang="en-GB"/>
          </a:p>
        </p:txBody>
      </p:sp>
      <p:sp>
        <p:nvSpPr>
          <p:cNvPr id="25" name="Text 23"/>
          <p:cNvSpPr/>
          <p:nvPr/>
        </p:nvSpPr>
        <p:spPr>
          <a:xfrm>
            <a:off x="1047750" y="9582150"/>
            <a:ext cx="42108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AUTONOMIJA I KOMPLEKSNOST</a:t>
            </a:r>
            <a:endParaRPr lang="en-US" sz="1800" dirty="0"/>
          </a:p>
        </p:txBody>
      </p:sp>
      <p:sp>
        <p:nvSpPr>
          <p:cNvPr id="26" name="Text 24"/>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1512094"/>
            <a:ext cx="8570595"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AUTONOMIJA I KOMPLEKSNOST · 03</a:t>
            </a:r>
            <a:endParaRPr lang="en-US" sz="1800" dirty="0"/>
          </a:p>
        </p:txBody>
      </p:sp>
      <p:sp>
        <p:nvSpPr>
          <p:cNvPr id="3" name="Text 1"/>
          <p:cNvSpPr/>
          <p:nvPr/>
        </p:nvSpPr>
        <p:spPr>
          <a:xfrm>
            <a:off x="1047750" y="2159794"/>
            <a:ext cx="7104056" cy="1916013"/>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Humanoid pri svakom koraku kontrolirano pada naprijed.</a:t>
            </a:r>
            <a:endParaRPr lang="en-US" sz="4650" dirty="0"/>
          </a:p>
        </p:txBody>
      </p:sp>
      <p:sp>
        <p:nvSpPr>
          <p:cNvPr id="4" name="Text 2"/>
          <p:cNvSpPr/>
          <p:nvPr/>
        </p:nvSpPr>
        <p:spPr>
          <a:xfrm>
            <a:off x="1047750" y="4418921"/>
            <a:ext cx="5238021" cy="1615083"/>
          </a:xfrm>
          <a:prstGeom prst="rect">
            <a:avLst/>
          </a:prstGeom>
          <a:noFill/>
          <a:ln/>
        </p:spPr>
        <p:txBody>
          <a:bodyPr wrap="square" lIns="25400" tIns="25400" rIns="25400" bIns="25400" rtlCol="0" anchor="t">
            <a:normAutofit fontScale="92500"/>
          </a:bodyPr>
          <a:lstStyle/>
          <a:p>
            <a:pPr marL="0" indent="0" algn="l">
              <a:lnSpc>
                <a:spcPct val="138000"/>
              </a:lnSpc>
              <a:buNone/>
            </a:pPr>
            <a:r>
              <a:rPr lang="en-US" sz="2250" dirty="0">
                <a:solidFill>
                  <a:srgbClr val="15140F"/>
                </a:solidFill>
                <a:latin typeface="Helvetica" pitchFamily="34" charset="0"/>
                <a:ea typeface="Helvetica" pitchFamily="34" charset="-122"/>
                <a:cs typeface="Helvetica" pitchFamily="34" charset="-120"/>
              </a:rPr>
              <a:t>Podaktuiran sustav slobodne baze nema aktuator za centar mase — ravnotežu drži samo sila tla preko male površine stopala.</a:t>
            </a:r>
            <a:endParaRPr lang="en-US" sz="2250" dirty="0"/>
          </a:p>
        </p:txBody>
      </p:sp>
      <p:sp>
        <p:nvSpPr>
          <p:cNvPr id="5" name="Shape 3"/>
          <p:cNvSpPr/>
          <p:nvPr/>
        </p:nvSpPr>
        <p:spPr>
          <a:xfrm>
            <a:off x="1047750" y="6453103"/>
            <a:ext cx="7791450" cy="752475"/>
          </a:xfrm>
          <a:prstGeom prst="rect">
            <a:avLst/>
          </a:prstGeom>
          <a:solidFill>
            <a:srgbClr val="FFFFFF"/>
          </a:solidFill>
          <a:ln w="9525">
            <a:solidFill>
              <a:srgbClr val="E4E2DA"/>
            </a:solidFill>
            <a:prstDash val="solid"/>
          </a:ln>
        </p:spPr>
        <p:txBody>
          <a:bodyPr/>
          <a:lstStyle/>
          <a:p>
            <a:endParaRPr lang="en-GB"/>
          </a:p>
        </p:txBody>
      </p:sp>
      <p:sp>
        <p:nvSpPr>
          <p:cNvPr id="6" name="Text 4"/>
          <p:cNvSpPr/>
          <p:nvPr/>
        </p:nvSpPr>
        <p:spPr>
          <a:xfrm>
            <a:off x="1285875" y="6634078"/>
            <a:ext cx="7548944" cy="428625"/>
          </a:xfrm>
          <a:prstGeom prst="rect">
            <a:avLst/>
          </a:prstGeom>
          <a:noFill/>
          <a:ln/>
        </p:spPr>
        <p:txBody>
          <a:bodyPr wrap="square" lIns="25400" tIns="25400" rIns="25400" bIns="25400" rtlCol="0" anchor="t">
            <a:normAutofit/>
          </a:bodyPr>
          <a:lstStyle/>
          <a:p>
            <a:pPr marL="0" indent="0" algn="l">
              <a:buNone/>
            </a:pPr>
            <a:r>
              <a:rPr lang="en-US" sz="2250" dirty="0">
                <a:solidFill>
                  <a:srgbClr val="15140F"/>
                </a:solidFill>
                <a:highlight>
                  <a:srgbClr val="FFFFFF"/>
                </a:highlight>
                <a:latin typeface="Courier New" pitchFamily="34" charset="0"/>
                <a:ea typeface="Courier New" pitchFamily="34" charset="-122"/>
                <a:cs typeface="Courier New" pitchFamily="34" charset="-120"/>
              </a:rPr>
              <a:t>ẍ = (g / z</a:t>
            </a:r>
            <a:r>
              <a:rPr lang="en-US" sz="1875" baseline="-40000" dirty="0">
                <a:solidFill>
                  <a:srgbClr val="15140F"/>
                </a:solidFill>
                <a:latin typeface="Courier New" pitchFamily="34" charset="0"/>
                <a:ea typeface="Courier New" pitchFamily="34" charset="-122"/>
                <a:cs typeface="Courier New" pitchFamily="34" charset="-120"/>
              </a:rPr>
              <a:t>c</a:t>
            </a:r>
            <a:r>
              <a:rPr lang="en-US" sz="2250" dirty="0">
                <a:solidFill>
                  <a:srgbClr val="15140F"/>
                </a:solidFill>
                <a:highlight>
                  <a:srgbClr val="FFFFFF"/>
                </a:highlight>
                <a:latin typeface="Courier New" pitchFamily="34" charset="0"/>
                <a:ea typeface="Courier New" pitchFamily="34" charset="-122"/>
                <a:cs typeface="Courier New" pitchFamily="34" charset="-120"/>
              </a:rPr>
              <a:t>) · (x − p) </a:t>
            </a:r>
            <a:r>
              <a:rPr lang="en-US" sz="2250" dirty="0">
                <a:solidFill>
                  <a:srgbClr val="9A968B"/>
                </a:solidFill>
                <a:latin typeface="Courier New" pitchFamily="34" charset="0"/>
                <a:ea typeface="Courier New" pitchFamily="34" charset="-122"/>
                <a:cs typeface="Courier New" pitchFamily="34" charset="-120"/>
              </a:rPr>
              <a:t>ZMP dinamika</a:t>
            </a:r>
            <a:endParaRPr lang="en-US" sz="2250" dirty="0"/>
          </a:p>
        </p:txBody>
      </p:sp>
      <p:sp>
        <p:nvSpPr>
          <p:cNvPr id="7" name="Text 5"/>
          <p:cNvSpPr/>
          <p:nvPr/>
        </p:nvSpPr>
        <p:spPr>
          <a:xfrm>
            <a:off x="1047750" y="7567528"/>
            <a:ext cx="4452241" cy="101709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Dok je </a:t>
            </a:r>
            <a:r>
              <a:rPr lang="en-US" sz="1800" dirty="0">
                <a:solidFill>
                  <a:srgbClr val="6E6B62"/>
                </a:solidFill>
                <a:latin typeface="Courier New" pitchFamily="34" charset="0"/>
                <a:ea typeface="Courier New" pitchFamily="34" charset="-122"/>
                <a:cs typeface="Courier New" pitchFamily="34" charset="-120"/>
              </a:rPr>
              <a:t>ZMP </a:t>
            </a:r>
            <a:r>
              <a:rPr lang="en-US" sz="1800" dirty="0">
                <a:solidFill>
                  <a:srgbClr val="6E6B62"/>
                </a:solidFill>
                <a:latin typeface="Helvetica" pitchFamily="34" charset="0"/>
                <a:ea typeface="Helvetica" pitchFamily="34" charset="-122"/>
                <a:cs typeface="Helvetica" pitchFamily="34" charset="-120"/>
              </a:rPr>
              <a:t>unutar oslonca, robot je stabilan. </a:t>
            </a:r>
            <a:r>
              <a:rPr lang="en-US" sz="1800" dirty="0">
                <a:solidFill>
                  <a:srgbClr val="6E6B62"/>
                </a:solidFill>
                <a:latin typeface="Courier New" pitchFamily="34" charset="0"/>
                <a:ea typeface="Courier New" pitchFamily="34" charset="-122"/>
                <a:cs typeface="Courier New" pitchFamily="34" charset="-120"/>
              </a:rPr>
              <a:t>Capture point </a:t>
            </a:r>
            <a:r>
              <a:rPr lang="en-US" sz="1800" dirty="0">
                <a:solidFill>
                  <a:srgbClr val="6E6B62"/>
                </a:solidFill>
                <a:latin typeface="Helvetica" pitchFamily="34" charset="0"/>
                <a:ea typeface="Helvetica" pitchFamily="34" charset="-122"/>
                <a:cs typeface="Helvetica" pitchFamily="34" charset="-120"/>
              </a:rPr>
              <a:t>govori kamo staviti stopalo da se zaustavi.</a:t>
            </a:r>
            <a:endParaRPr lang="en-US" sz="1800" dirty="0"/>
          </a:p>
        </p:txBody>
      </p:sp>
      <p:sp>
        <p:nvSpPr>
          <p:cNvPr id="8" name="Shape 6"/>
          <p:cNvSpPr/>
          <p:nvPr/>
        </p:nvSpPr>
        <p:spPr>
          <a:xfrm>
            <a:off x="10868025" y="7220163"/>
            <a:ext cx="4953000" cy="19050"/>
          </a:xfrm>
          <a:prstGeom prst="rect">
            <a:avLst/>
          </a:prstGeom>
          <a:solidFill>
            <a:srgbClr val="1A1813"/>
          </a:solidFill>
          <a:ln/>
        </p:spPr>
        <p:txBody>
          <a:bodyPr/>
          <a:lstStyle/>
          <a:p>
            <a:endParaRPr lang="en-GB"/>
          </a:p>
        </p:txBody>
      </p:sp>
      <p:sp>
        <p:nvSpPr>
          <p:cNvPr id="9" name="Shape 7"/>
          <p:cNvSpPr/>
          <p:nvPr/>
        </p:nvSpPr>
        <p:spPr>
          <a:xfrm>
            <a:off x="12392025" y="7067763"/>
            <a:ext cx="1905000" cy="323850"/>
          </a:xfrm>
          <a:prstGeom prst="rect">
            <a:avLst/>
          </a:prstGeom>
          <a:solidFill>
            <a:srgbClr val="F5C518"/>
          </a:solidFill>
          <a:ln w="9525">
            <a:solidFill>
              <a:srgbClr val="15140F"/>
            </a:solidFill>
            <a:prstDash val="solid"/>
          </a:ln>
        </p:spPr>
        <p:txBody>
          <a:bodyPr/>
          <a:lstStyle/>
          <a:p>
            <a:endParaRPr lang="en-GB"/>
          </a:p>
        </p:txBody>
      </p:sp>
      <p:sp>
        <p:nvSpPr>
          <p:cNvPr id="10" name="Text 8"/>
          <p:cNvSpPr/>
          <p:nvPr/>
        </p:nvSpPr>
        <p:spPr>
          <a:xfrm>
            <a:off x="12401848" y="7524963"/>
            <a:ext cx="247956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E6B62"/>
                </a:solidFill>
                <a:latin typeface="Courier New" pitchFamily="34" charset="0"/>
                <a:ea typeface="Courier New" pitchFamily="34" charset="-122"/>
                <a:cs typeface="Courier New" pitchFamily="34" charset="-120"/>
              </a:rPr>
              <a:t>poligon oslonca</a:t>
            </a:r>
            <a:endParaRPr lang="en-US" sz="1800" dirty="0"/>
          </a:p>
        </p:txBody>
      </p:sp>
      <p:sp>
        <p:nvSpPr>
          <p:cNvPr id="11" name="Shape 9"/>
          <p:cNvSpPr/>
          <p:nvPr/>
        </p:nvSpPr>
        <p:spPr>
          <a:xfrm rot="660000">
            <a:off x="13711903" y="3265939"/>
            <a:ext cx="28575" cy="4000500"/>
          </a:xfrm>
          <a:prstGeom prst="rect">
            <a:avLst/>
          </a:prstGeom>
          <a:solidFill>
            <a:srgbClr val="15140F"/>
          </a:solidFill>
          <a:ln/>
        </p:spPr>
        <p:txBody>
          <a:bodyPr/>
          <a:lstStyle/>
          <a:p>
            <a:endParaRPr lang="en-GB"/>
          </a:p>
        </p:txBody>
      </p:sp>
      <p:sp>
        <p:nvSpPr>
          <p:cNvPr id="12" name="Shape 10"/>
          <p:cNvSpPr/>
          <p:nvPr/>
        </p:nvSpPr>
        <p:spPr>
          <a:xfrm>
            <a:off x="13849350" y="2914864"/>
            <a:ext cx="514350" cy="514350"/>
          </a:xfrm>
          <a:prstGeom prst="ellipse">
            <a:avLst/>
          </a:prstGeom>
          <a:solidFill>
            <a:srgbClr val="15140F"/>
          </a:solidFill>
          <a:ln/>
        </p:spPr>
        <p:txBody>
          <a:bodyPr/>
          <a:lstStyle/>
          <a:p>
            <a:endParaRPr lang="en-GB"/>
          </a:p>
        </p:txBody>
      </p:sp>
      <p:sp>
        <p:nvSpPr>
          <p:cNvPr id="13" name="Text 11"/>
          <p:cNvSpPr/>
          <p:nvPr/>
        </p:nvSpPr>
        <p:spPr>
          <a:xfrm>
            <a:off x="14582775" y="3086314"/>
            <a:ext cx="956072"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Courier New" pitchFamily="34" charset="0"/>
                <a:ea typeface="Courier New" pitchFamily="34" charset="-122"/>
                <a:cs typeface="Courier New" pitchFamily="34" charset="-120"/>
              </a:rPr>
              <a:t>CoM </a:t>
            </a:r>
            <a:r>
              <a:rPr lang="en-US" sz="1800" dirty="0">
                <a:solidFill>
                  <a:srgbClr val="6E6B62"/>
                </a:solidFill>
                <a:latin typeface="Courier New" pitchFamily="34" charset="0"/>
                <a:ea typeface="Courier New" pitchFamily="34" charset="-122"/>
                <a:cs typeface="Courier New" pitchFamily="34" charset="-120"/>
              </a:rPr>
              <a:t>mg</a:t>
            </a:r>
            <a:endParaRPr lang="en-US" sz="1800" dirty="0"/>
          </a:p>
        </p:txBody>
      </p:sp>
      <p:sp>
        <p:nvSpPr>
          <p:cNvPr id="14" name="Shape 12"/>
          <p:cNvSpPr/>
          <p:nvPr/>
        </p:nvSpPr>
        <p:spPr>
          <a:xfrm>
            <a:off x="14087475" y="3505414"/>
            <a:ext cx="19050" cy="3533775"/>
          </a:xfrm>
          <a:prstGeom prst="rect">
            <a:avLst/>
          </a:prstGeom>
          <a:solidFill>
            <a:srgbClr val="6E6B62"/>
          </a:solidFill>
          <a:ln/>
        </p:spPr>
        <p:txBody>
          <a:bodyPr/>
          <a:lstStyle/>
          <a:p>
            <a:endParaRPr lang="en-GB"/>
          </a:p>
        </p:txBody>
      </p:sp>
      <p:sp>
        <p:nvSpPr>
          <p:cNvPr id="15" name="Shape 13"/>
          <p:cNvSpPr/>
          <p:nvPr/>
        </p:nvSpPr>
        <p:spPr>
          <a:xfrm>
            <a:off x="13258800" y="7305888"/>
            <a:ext cx="171450" cy="171450"/>
          </a:xfrm>
          <a:prstGeom prst="ellipse">
            <a:avLst/>
          </a:prstGeom>
          <a:solidFill>
            <a:srgbClr val="FFFFFF"/>
          </a:solidFill>
          <a:ln w="28575">
            <a:solidFill>
              <a:srgbClr val="15140F"/>
            </a:solidFill>
            <a:prstDash val="solid"/>
          </a:ln>
        </p:spPr>
        <p:txBody>
          <a:bodyPr/>
          <a:lstStyle/>
          <a:p>
            <a:endParaRPr lang="en-GB"/>
          </a:p>
        </p:txBody>
      </p:sp>
      <p:sp>
        <p:nvSpPr>
          <p:cNvPr id="16" name="Text 14"/>
          <p:cNvSpPr/>
          <p:nvPr/>
        </p:nvSpPr>
        <p:spPr>
          <a:xfrm>
            <a:off x="13515975" y="6686763"/>
            <a:ext cx="51435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Courier New" pitchFamily="34" charset="0"/>
                <a:ea typeface="Courier New" pitchFamily="34" charset="-122"/>
                <a:cs typeface="Courier New" pitchFamily="34" charset="-120"/>
              </a:rPr>
              <a:t>ZMP</a:t>
            </a:r>
            <a:endParaRPr lang="en-US" sz="1800" dirty="0"/>
          </a:p>
        </p:txBody>
      </p:sp>
      <p:sp>
        <p:nvSpPr>
          <p:cNvPr id="17" name="Shape 15"/>
          <p:cNvSpPr/>
          <p:nvPr/>
        </p:nvSpPr>
        <p:spPr>
          <a:xfrm>
            <a:off x="1047750" y="9401175"/>
            <a:ext cx="16192500" cy="9525"/>
          </a:xfrm>
          <a:prstGeom prst="rect">
            <a:avLst/>
          </a:prstGeom>
          <a:solidFill>
            <a:srgbClr val="E4E2DA"/>
          </a:solidFill>
          <a:ln/>
        </p:spPr>
        <p:txBody>
          <a:bodyPr/>
          <a:lstStyle/>
          <a:p>
            <a:endParaRPr lang="en-GB"/>
          </a:p>
        </p:txBody>
      </p:sp>
      <p:sp>
        <p:nvSpPr>
          <p:cNvPr id="18" name="Text 16"/>
          <p:cNvSpPr/>
          <p:nvPr/>
        </p:nvSpPr>
        <p:spPr>
          <a:xfrm>
            <a:off x="1047750" y="9582150"/>
            <a:ext cx="42108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AUTONOMIJA I KOMPLEKSNOST</a:t>
            </a:r>
            <a:endParaRPr lang="en-US" sz="1800" dirty="0"/>
          </a:p>
        </p:txBody>
      </p:sp>
      <p:sp>
        <p:nvSpPr>
          <p:cNvPr id="19" name="Text 17"/>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163366"/>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AUTONOMIJA I KOMPLEKSNOST · 04</a:t>
            </a:r>
            <a:endParaRPr lang="en-US" sz="1800" dirty="0"/>
          </a:p>
        </p:txBody>
      </p:sp>
      <p:sp>
        <p:nvSpPr>
          <p:cNvPr id="3" name="Text 1"/>
          <p:cNvSpPr/>
          <p:nvPr/>
        </p:nvSpPr>
        <p:spPr>
          <a:xfrm>
            <a:off x="1047750" y="2811066"/>
            <a:ext cx="7104056" cy="1916013"/>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Sigurnost je tvrdo ograničenje , a ne naknadni filtar.</a:t>
            </a:r>
            <a:endParaRPr lang="en-US" sz="4650" dirty="0"/>
          </a:p>
        </p:txBody>
      </p:sp>
      <p:sp>
        <p:nvSpPr>
          <p:cNvPr id="4" name="Text 2"/>
          <p:cNvSpPr/>
          <p:nvPr/>
        </p:nvSpPr>
        <p:spPr>
          <a:xfrm>
            <a:off x="1047750" y="5258806"/>
            <a:ext cx="5238021" cy="2009329"/>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2250" dirty="0">
                <a:solidFill>
                  <a:srgbClr val="15140F"/>
                </a:solidFill>
                <a:latin typeface="Helvetica" pitchFamily="34" charset="0"/>
                <a:ea typeface="Helvetica" pitchFamily="34" charset="-122"/>
                <a:cs typeface="Helvetica" pitchFamily="34" charset="-120"/>
              </a:rPr>
              <a:t>Cjelovito upravljanje tijelom (WBC) rješava 20–40 zglobova kao kvadratni program. Granice momenata ulaze kao </a:t>
            </a:r>
            <a:r>
              <a:rPr lang="en-US" sz="2250" dirty="0">
                <a:solidFill>
                  <a:srgbClr val="15140F"/>
                </a:solidFill>
                <a:highlight>
                  <a:srgbClr val="F5C518"/>
                </a:highlight>
                <a:latin typeface="Helvetica" pitchFamily="34" charset="0"/>
                <a:ea typeface="Helvetica" pitchFamily="34" charset="-122"/>
                <a:cs typeface="Helvetica" pitchFamily="34" charset="-120"/>
              </a:rPr>
              <a:t>tvrda ograničenja </a:t>
            </a:r>
            <a:r>
              <a:rPr lang="en-US" sz="2250" dirty="0">
                <a:solidFill>
                  <a:srgbClr val="15140F"/>
                </a:solidFill>
                <a:latin typeface="Helvetica" pitchFamily="34" charset="0"/>
                <a:ea typeface="Helvetica" pitchFamily="34" charset="-122"/>
                <a:cs typeface="Helvetica" pitchFamily="34" charset="-120"/>
              </a:rPr>
              <a:t>— nikad se ne krše zbog zadatka.</a:t>
            </a:r>
            <a:endParaRPr lang="en-US" sz="2250" dirty="0"/>
          </a:p>
        </p:txBody>
      </p:sp>
      <p:sp>
        <p:nvSpPr>
          <p:cNvPr id="5" name="Shape 3"/>
          <p:cNvSpPr/>
          <p:nvPr/>
        </p:nvSpPr>
        <p:spPr>
          <a:xfrm>
            <a:off x="1047749" y="7658659"/>
            <a:ext cx="4402791" cy="628650"/>
          </a:xfrm>
          <a:prstGeom prst="rect">
            <a:avLst/>
          </a:prstGeom>
          <a:solidFill>
            <a:srgbClr val="FFFFFF"/>
          </a:solidFill>
          <a:ln w="9525">
            <a:solidFill>
              <a:srgbClr val="E4E2DA"/>
            </a:solidFill>
            <a:prstDash val="solid"/>
          </a:ln>
        </p:spPr>
        <p:txBody>
          <a:bodyPr/>
          <a:lstStyle/>
          <a:p>
            <a:endParaRPr lang="en-GB"/>
          </a:p>
        </p:txBody>
      </p:sp>
      <p:sp>
        <p:nvSpPr>
          <p:cNvPr id="6" name="Text 4"/>
          <p:cNvSpPr/>
          <p:nvPr/>
        </p:nvSpPr>
        <p:spPr>
          <a:xfrm>
            <a:off x="1285875" y="7780847"/>
            <a:ext cx="3768586" cy="304800"/>
          </a:xfrm>
          <a:prstGeom prst="rect">
            <a:avLst/>
          </a:prstGeom>
          <a:noFill/>
          <a:ln/>
        </p:spPr>
        <p:txBody>
          <a:bodyPr wrap="none" lIns="25400" tIns="25400" rIns="25400" bIns="25400" rtlCol="0" anchor="t">
            <a:normAutofit lnSpcReduction="10000"/>
          </a:bodyPr>
          <a:lstStyle/>
          <a:p>
            <a:pPr marL="0" indent="0" algn="l">
              <a:buNone/>
            </a:pPr>
            <a:r>
              <a:rPr lang="en-US" sz="1800" dirty="0">
                <a:solidFill>
                  <a:srgbClr val="15140F"/>
                </a:solidFill>
                <a:latin typeface="Courier New" pitchFamily="34" charset="0"/>
                <a:ea typeface="Courier New" pitchFamily="34" charset="-122"/>
                <a:cs typeface="Courier New" pitchFamily="34" charset="-120"/>
              </a:rPr>
              <a:t>min Σ wᵢ ‖Jᵢ q̈ + J̇ᵢ q̇ − ẍ*ᵢ‖²</a:t>
            </a:r>
            <a:endParaRPr lang="en-US" sz="1800" dirty="0"/>
          </a:p>
        </p:txBody>
      </p:sp>
      <p:sp>
        <p:nvSpPr>
          <p:cNvPr id="7" name="Shape 5"/>
          <p:cNvSpPr/>
          <p:nvPr/>
        </p:nvSpPr>
        <p:spPr>
          <a:xfrm>
            <a:off x="9410700" y="5165342"/>
            <a:ext cx="7829550" cy="676275"/>
          </a:xfrm>
          <a:prstGeom prst="rect">
            <a:avLst/>
          </a:prstGeom>
          <a:solidFill>
            <a:srgbClr val="F5C518"/>
          </a:solidFill>
          <a:ln w="9525">
            <a:solidFill>
              <a:srgbClr val="15140F"/>
            </a:solidFill>
            <a:prstDash val="solid"/>
          </a:ln>
        </p:spPr>
        <p:txBody>
          <a:bodyPr/>
          <a:lstStyle/>
          <a:p>
            <a:endParaRPr lang="en-GB"/>
          </a:p>
        </p:txBody>
      </p:sp>
      <p:sp>
        <p:nvSpPr>
          <p:cNvPr id="8" name="Text 6"/>
          <p:cNvSpPr/>
          <p:nvPr/>
        </p:nvSpPr>
        <p:spPr>
          <a:xfrm>
            <a:off x="9667875" y="5365367"/>
            <a:ext cx="3479021"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Regulacija momenta i struje</a:t>
            </a:r>
            <a:endParaRPr lang="en-US" sz="1875" dirty="0"/>
          </a:p>
        </p:txBody>
      </p:sp>
      <p:sp>
        <p:nvSpPr>
          <p:cNvPr id="9" name="Text 7"/>
          <p:cNvSpPr/>
          <p:nvPr/>
        </p:nvSpPr>
        <p:spPr>
          <a:xfrm>
            <a:off x="16228963" y="5370129"/>
            <a:ext cx="830312" cy="304800"/>
          </a:xfrm>
          <a:prstGeom prst="rect">
            <a:avLst/>
          </a:prstGeom>
          <a:noFill/>
          <a:ln/>
        </p:spPr>
        <p:txBody>
          <a:bodyPr wrap="none" lIns="25400" tIns="25400" rIns="25400" bIns="25400" rtlCol="0" anchor="t">
            <a:normAutofit lnSpcReduction="10000"/>
          </a:bodyPr>
          <a:lstStyle/>
          <a:p>
            <a:pPr marL="0" indent="0" algn="l">
              <a:buNone/>
            </a:pPr>
            <a:r>
              <a:rPr lang="en-US" sz="1800" dirty="0">
                <a:solidFill>
                  <a:srgbClr val="15140F"/>
                </a:solidFill>
                <a:latin typeface="Courier New" pitchFamily="34" charset="0"/>
                <a:ea typeface="Courier New" pitchFamily="34" charset="-122"/>
                <a:cs typeface="Courier New" pitchFamily="34" charset="-120"/>
              </a:rPr>
              <a:t>~1 kHz</a:t>
            </a:r>
            <a:endParaRPr lang="en-US" sz="1800" dirty="0"/>
          </a:p>
        </p:txBody>
      </p:sp>
      <p:sp>
        <p:nvSpPr>
          <p:cNvPr id="10" name="Shape 8"/>
          <p:cNvSpPr/>
          <p:nvPr/>
        </p:nvSpPr>
        <p:spPr>
          <a:xfrm>
            <a:off x="9410700" y="5955917"/>
            <a:ext cx="7829550" cy="676275"/>
          </a:xfrm>
          <a:prstGeom prst="rect">
            <a:avLst/>
          </a:prstGeom>
          <a:solidFill>
            <a:srgbClr val="FFFFFF"/>
          </a:solidFill>
          <a:ln w="9525">
            <a:solidFill>
              <a:srgbClr val="E4E2DA"/>
            </a:solidFill>
            <a:prstDash val="solid"/>
          </a:ln>
        </p:spPr>
        <p:txBody>
          <a:bodyPr/>
          <a:lstStyle/>
          <a:p>
            <a:endParaRPr lang="en-GB"/>
          </a:p>
        </p:txBody>
      </p:sp>
      <p:sp>
        <p:nvSpPr>
          <p:cNvPr id="11" name="Text 9"/>
          <p:cNvSpPr/>
          <p:nvPr/>
        </p:nvSpPr>
        <p:spPr>
          <a:xfrm>
            <a:off x="9667875" y="6155942"/>
            <a:ext cx="2882131"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Ravnoteža i cijelo tijelo</a:t>
            </a:r>
            <a:endParaRPr lang="en-US" sz="1875" dirty="0"/>
          </a:p>
        </p:txBody>
      </p:sp>
      <p:sp>
        <p:nvSpPr>
          <p:cNvPr id="12" name="Text 10"/>
          <p:cNvSpPr/>
          <p:nvPr/>
        </p:nvSpPr>
        <p:spPr>
          <a:xfrm>
            <a:off x="16103203" y="6160704"/>
            <a:ext cx="956072" cy="304800"/>
          </a:xfrm>
          <a:prstGeom prst="rect">
            <a:avLst/>
          </a:prstGeom>
          <a:noFill/>
          <a:ln/>
        </p:spPr>
        <p:txBody>
          <a:bodyPr wrap="none" lIns="25400" tIns="25400" rIns="25400" bIns="25400" rtlCol="0" anchor="t">
            <a:normAutofit lnSpcReduction="10000"/>
          </a:bodyPr>
          <a:lstStyle/>
          <a:p>
            <a:pPr marL="0" indent="0" algn="l">
              <a:buNone/>
            </a:pPr>
            <a:r>
              <a:rPr lang="en-US" sz="1800" dirty="0">
                <a:solidFill>
                  <a:srgbClr val="15140F"/>
                </a:solidFill>
                <a:latin typeface="Courier New" pitchFamily="34" charset="0"/>
                <a:ea typeface="Courier New" pitchFamily="34" charset="-122"/>
                <a:cs typeface="Courier New" pitchFamily="34" charset="-120"/>
              </a:rPr>
              <a:t>~100 Hz</a:t>
            </a:r>
            <a:endParaRPr lang="en-US" sz="1800" dirty="0"/>
          </a:p>
        </p:txBody>
      </p:sp>
      <p:sp>
        <p:nvSpPr>
          <p:cNvPr id="13" name="Shape 11"/>
          <p:cNvSpPr/>
          <p:nvPr/>
        </p:nvSpPr>
        <p:spPr>
          <a:xfrm>
            <a:off x="9410700" y="6746492"/>
            <a:ext cx="7829550" cy="676275"/>
          </a:xfrm>
          <a:prstGeom prst="rect">
            <a:avLst/>
          </a:prstGeom>
          <a:solidFill>
            <a:srgbClr val="FFFFFF"/>
          </a:solidFill>
          <a:ln w="9525">
            <a:solidFill>
              <a:srgbClr val="E4E2DA"/>
            </a:solidFill>
            <a:prstDash val="solid"/>
          </a:ln>
        </p:spPr>
        <p:txBody>
          <a:bodyPr/>
          <a:lstStyle/>
          <a:p>
            <a:endParaRPr lang="en-GB"/>
          </a:p>
        </p:txBody>
      </p:sp>
      <p:sp>
        <p:nvSpPr>
          <p:cNvPr id="14" name="Text 12"/>
          <p:cNvSpPr/>
          <p:nvPr/>
        </p:nvSpPr>
        <p:spPr>
          <a:xfrm>
            <a:off x="9667875" y="6946517"/>
            <a:ext cx="2911435"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Planiranje i odlučivanje</a:t>
            </a:r>
            <a:endParaRPr lang="en-US" sz="1875" dirty="0"/>
          </a:p>
        </p:txBody>
      </p:sp>
      <p:sp>
        <p:nvSpPr>
          <p:cNvPr id="15" name="Text 13"/>
          <p:cNvSpPr/>
          <p:nvPr/>
        </p:nvSpPr>
        <p:spPr>
          <a:xfrm>
            <a:off x="16354574" y="6951279"/>
            <a:ext cx="704701" cy="304800"/>
          </a:xfrm>
          <a:prstGeom prst="rect">
            <a:avLst/>
          </a:prstGeom>
          <a:noFill/>
          <a:ln/>
        </p:spPr>
        <p:txBody>
          <a:bodyPr wrap="none" lIns="25400" tIns="25400" rIns="25400" bIns="25400" rtlCol="0" anchor="t">
            <a:normAutofit lnSpcReduction="10000"/>
          </a:bodyPr>
          <a:lstStyle/>
          <a:p>
            <a:pPr marL="0" indent="0" algn="l">
              <a:buNone/>
            </a:pPr>
            <a:r>
              <a:rPr lang="en-US" sz="1800" dirty="0">
                <a:solidFill>
                  <a:srgbClr val="15140F"/>
                </a:solidFill>
                <a:latin typeface="Courier New" pitchFamily="34" charset="0"/>
                <a:ea typeface="Courier New" pitchFamily="34" charset="-122"/>
                <a:cs typeface="Courier New" pitchFamily="34" charset="-120"/>
              </a:rPr>
              <a:t>~5 Hz</a:t>
            </a:r>
            <a:endParaRPr lang="en-US" sz="1800" dirty="0"/>
          </a:p>
        </p:txBody>
      </p:sp>
      <p:sp>
        <p:nvSpPr>
          <p:cNvPr id="16" name="Text 14"/>
          <p:cNvSpPr/>
          <p:nvPr/>
        </p:nvSpPr>
        <p:spPr>
          <a:xfrm>
            <a:off x="9410700" y="7575167"/>
            <a:ext cx="86125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Brze, provjerljive petlje brane sustav od sporih, „pametnih” slojeva.</a:t>
            </a:r>
            <a:endParaRPr lang="en-US" sz="1800" dirty="0"/>
          </a:p>
        </p:txBody>
      </p:sp>
      <p:sp>
        <p:nvSpPr>
          <p:cNvPr id="17" name="Shape 15"/>
          <p:cNvSpPr/>
          <p:nvPr/>
        </p:nvSpPr>
        <p:spPr>
          <a:xfrm>
            <a:off x="1047750" y="9401175"/>
            <a:ext cx="16192500" cy="9525"/>
          </a:xfrm>
          <a:prstGeom prst="rect">
            <a:avLst/>
          </a:prstGeom>
          <a:solidFill>
            <a:srgbClr val="E4E2DA"/>
          </a:solidFill>
          <a:ln/>
        </p:spPr>
        <p:txBody>
          <a:bodyPr/>
          <a:lstStyle/>
          <a:p>
            <a:endParaRPr lang="en-GB"/>
          </a:p>
        </p:txBody>
      </p:sp>
      <p:sp>
        <p:nvSpPr>
          <p:cNvPr id="18" name="Text 16"/>
          <p:cNvSpPr/>
          <p:nvPr/>
        </p:nvSpPr>
        <p:spPr>
          <a:xfrm>
            <a:off x="1047750" y="9582150"/>
            <a:ext cx="42108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AUTONOMIJA I KOMPLEKSNOST</a:t>
            </a:r>
            <a:endParaRPr lang="en-US" sz="1800" dirty="0"/>
          </a:p>
        </p:txBody>
      </p:sp>
      <p:sp>
        <p:nvSpPr>
          <p:cNvPr id="19" name="Text 17"/>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194024"/>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FIZIČKA INTERAKCIJA S LJUDIMA · 01</a:t>
            </a:r>
            <a:endParaRPr lang="en-US" sz="1800" dirty="0"/>
          </a:p>
        </p:txBody>
      </p:sp>
      <p:sp>
        <p:nvSpPr>
          <p:cNvPr id="3" name="Text 1"/>
          <p:cNvSpPr/>
          <p:nvPr/>
        </p:nvSpPr>
        <p:spPr>
          <a:xfrm>
            <a:off x="1047750" y="2746474"/>
            <a:ext cx="9471973" cy="129004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Energija sudara raste s kvadratom brzine.</a:t>
            </a:r>
            <a:endParaRPr lang="en-US" sz="4650" dirty="0"/>
          </a:p>
        </p:txBody>
      </p:sp>
      <p:sp>
        <p:nvSpPr>
          <p:cNvPr id="4" name="Text 2"/>
          <p:cNvSpPr/>
          <p:nvPr/>
        </p:nvSpPr>
        <p:spPr>
          <a:xfrm>
            <a:off x="1047750" y="4379529"/>
            <a:ext cx="3473128" cy="1678186"/>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15750" b="1" kern="0" spc="-472" dirty="0">
                <a:solidFill>
                  <a:srgbClr val="15140F"/>
                </a:solidFill>
                <a:latin typeface="Helvetica" pitchFamily="34" charset="0"/>
                <a:ea typeface="Helvetica" pitchFamily="34" charset="-122"/>
                <a:cs typeface="Helvetica" pitchFamily="34" charset="-120"/>
              </a:rPr>
              <a:t>880</a:t>
            </a:r>
            <a:endParaRPr lang="en-US" sz="15750" dirty="0"/>
          </a:p>
        </p:txBody>
      </p:sp>
      <p:sp>
        <p:nvSpPr>
          <p:cNvPr id="5" name="Text 3"/>
          <p:cNvSpPr/>
          <p:nvPr/>
        </p:nvSpPr>
        <p:spPr>
          <a:xfrm>
            <a:off x="4338489" y="5484429"/>
            <a:ext cx="317153" cy="552450"/>
          </a:xfrm>
          <a:prstGeom prst="rect">
            <a:avLst/>
          </a:prstGeom>
          <a:noFill/>
          <a:ln/>
        </p:spPr>
        <p:txBody>
          <a:bodyPr wrap="square" lIns="25400" tIns="25400" rIns="25400" bIns="25400" rtlCol="0" anchor="t">
            <a:normAutofit lnSpcReduction="10000"/>
          </a:bodyPr>
          <a:lstStyle/>
          <a:p>
            <a:pPr marL="0" indent="0" algn="l">
              <a:buNone/>
            </a:pPr>
            <a:r>
              <a:rPr lang="en-US" sz="3450" dirty="0">
                <a:solidFill>
                  <a:srgbClr val="15140F"/>
                </a:solidFill>
                <a:latin typeface="Courier New" pitchFamily="34" charset="0"/>
                <a:ea typeface="Courier New" pitchFamily="34" charset="-122"/>
                <a:cs typeface="Courier New" pitchFamily="34" charset="-120"/>
              </a:rPr>
              <a:t>J</a:t>
            </a:r>
            <a:endParaRPr lang="en-US" sz="3450" dirty="0"/>
          </a:p>
        </p:txBody>
      </p:sp>
      <p:sp>
        <p:nvSpPr>
          <p:cNvPr id="6" name="Text 4"/>
          <p:cNvSpPr/>
          <p:nvPr/>
        </p:nvSpPr>
        <p:spPr>
          <a:xfrm>
            <a:off x="1047750" y="6095815"/>
            <a:ext cx="3142812"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Pad humanoida od 90 kg s visine težišta ≈ 1 m</a:t>
            </a:r>
            <a:endParaRPr lang="en-US" sz="1800" dirty="0"/>
          </a:p>
        </p:txBody>
      </p:sp>
      <p:sp>
        <p:nvSpPr>
          <p:cNvPr id="7" name="Text 5"/>
          <p:cNvSpPr/>
          <p:nvPr/>
        </p:nvSpPr>
        <p:spPr>
          <a:xfrm>
            <a:off x="5341441" y="5688025"/>
            <a:ext cx="685800" cy="742950"/>
          </a:xfrm>
          <a:prstGeom prst="rect">
            <a:avLst/>
          </a:prstGeom>
          <a:noFill/>
          <a:ln/>
        </p:spPr>
        <p:txBody>
          <a:bodyPr wrap="square" lIns="25400" tIns="25400" rIns="25400" bIns="25400" rtlCol="0" anchor="t">
            <a:normAutofit lnSpcReduction="10000"/>
          </a:bodyPr>
          <a:lstStyle/>
          <a:p>
            <a:pPr marL="0" indent="0" algn="l">
              <a:buNone/>
            </a:pPr>
            <a:r>
              <a:rPr lang="en-US" sz="4800" dirty="0">
                <a:solidFill>
                  <a:srgbClr val="9A968B"/>
                </a:solidFill>
                <a:latin typeface="Helvetica" pitchFamily="34" charset="0"/>
                <a:ea typeface="Helvetica" pitchFamily="34" charset="-122"/>
                <a:cs typeface="Helvetica" pitchFamily="34" charset="-120"/>
              </a:rPr>
              <a:t>vs</a:t>
            </a:r>
            <a:endParaRPr lang="en-US" sz="4800" dirty="0"/>
          </a:p>
        </p:txBody>
      </p:sp>
      <p:sp>
        <p:nvSpPr>
          <p:cNvPr id="8" name="Text 6"/>
          <p:cNvSpPr/>
          <p:nvPr/>
        </p:nvSpPr>
        <p:spPr>
          <a:xfrm>
            <a:off x="6713041" y="4661409"/>
            <a:ext cx="2992800" cy="975271"/>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9000" b="1" kern="0" spc="-270" dirty="0">
                <a:solidFill>
                  <a:srgbClr val="15140F"/>
                </a:solidFill>
                <a:latin typeface="Helvetica" pitchFamily="34" charset="0"/>
                <a:ea typeface="Helvetica" pitchFamily="34" charset="-122"/>
                <a:cs typeface="Helvetica" pitchFamily="34" charset="-120"/>
              </a:rPr>
              <a:t>&lt; 150</a:t>
            </a:r>
            <a:endParaRPr lang="en-US" sz="9000" dirty="0"/>
          </a:p>
        </p:txBody>
      </p:sp>
      <p:sp>
        <p:nvSpPr>
          <p:cNvPr id="9" name="Text 7"/>
          <p:cNvSpPr/>
          <p:nvPr/>
        </p:nvSpPr>
        <p:spPr>
          <a:xfrm>
            <a:off x="9567118" y="5213859"/>
            <a:ext cx="264765" cy="438150"/>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15140F"/>
                </a:solidFill>
                <a:latin typeface="Courier New" pitchFamily="34" charset="0"/>
                <a:ea typeface="Courier New" pitchFamily="34" charset="-122"/>
                <a:cs typeface="Courier New" pitchFamily="34" charset="-120"/>
              </a:rPr>
              <a:t>N</a:t>
            </a:r>
            <a:endParaRPr lang="en-US" sz="2700" dirty="0"/>
          </a:p>
        </p:txBody>
      </p:sp>
      <p:sp>
        <p:nvSpPr>
          <p:cNvPr id="10" name="Text 8"/>
          <p:cNvSpPr/>
          <p:nvPr/>
        </p:nvSpPr>
        <p:spPr>
          <a:xfrm>
            <a:off x="6713041" y="5690109"/>
            <a:ext cx="4071500" cy="100756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Dopuštena vršna sila za glavu/prsa po </a:t>
            </a:r>
            <a:r>
              <a:rPr lang="en-US" sz="1800" dirty="0">
                <a:solidFill>
                  <a:srgbClr val="6E6B62"/>
                </a:solidFill>
                <a:latin typeface="Courier New" pitchFamily="34" charset="0"/>
                <a:ea typeface="Courier New" pitchFamily="34" charset="-122"/>
                <a:cs typeface="Courier New" pitchFamily="34" charset="-120"/>
              </a:rPr>
              <a:t>ISO/TS 15066 </a:t>
            </a:r>
            <a:r>
              <a:rPr lang="en-US" sz="1800" dirty="0">
                <a:solidFill>
                  <a:srgbClr val="6E6B62"/>
                </a:solidFill>
                <a:latin typeface="Helvetica" pitchFamily="34" charset="0"/>
                <a:ea typeface="Helvetica" pitchFamily="34" charset="-122"/>
                <a:cs typeface="Helvetica" pitchFamily="34" charset="-120"/>
              </a:rPr>
              <a:t>(uz svega nekoliko J)</a:t>
            </a:r>
            <a:endParaRPr lang="en-US" sz="1800" dirty="0"/>
          </a:p>
        </p:txBody>
      </p:sp>
      <p:sp>
        <p:nvSpPr>
          <p:cNvPr id="11" name="Text 9"/>
          <p:cNvSpPr/>
          <p:nvPr/>
        </p:nvSpPr>
        <p:spPr>
          <a:xfrm>
            <a:off x="1047750" y="7383475"/>
            <a:ext cx="7955139" cy="747712"/>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2025" dirty="0">
                <a:solidFill>
                  <a:srgbClr val="15140F"/>
                </a:solidFill>
                <a:latin typeface="Helvetica" pitchFamily="34" charset="0"/>
                <a:ea typeface="Helvetica" pitchFamily="34" charset="-122"/>
                <a:cs typeface="Helvetica" pitchFamily="34" charset="-120"/>
              </a:rPr>
              <a:t>Sudar punim tijelom premašuje granice za </a:t>
            </a:r>
            <a:r>
              <a:rPr lang="en-US" sz="2025" dirty="0">
                <a:solidFill>
                  <a:srgbClr val="15140F"/>
                </a:solidFill>
                <a:highlight>
                  <a:srgbClr val="F5C518"/>
                </a:highlight>
                <a:latin typeface="Helvetica" pitchFamily="34" charset="0"/>
                <a:ea typeface="Helvetica" pitchFamily="34" charset="-122"/>
                <a:cs typeface="Helvetica" pitchFamily="34" charset="-120"/>
              </a:rPr>
              <a:t>dva reda veličine </a:t>
            </a:r>
            <a:r>
              <a:rPr lang="en-US" sz="2025" dirty="0">
                <a:solidFill>
                  <a:srgbClr val="15140F"/>
                </a:solidFill>
                <a:latin typeface="Helvetica" pitchFamily="34" charset="0"/>
                <a:ea typeface="Helvetica" pitchFamily="34" charset="-122"/>
                <a:cs typeface="Helvetica" pitchFamily="34" charset="-120"/>
              </a:rPr>
              <a:t>— zato je ograničavanje brzine učinkovitije od smanjenja mase.</a:t>
            </a:r>
            <a:endParaRPr lang="en-US" sz="2025" dirty="0"/>
          </a:p>
        </p:txBody>
      </p:sp>
      <p:sp>
        <p:nvSpPr>
          <p:cNvPr id="12" name="Shape 10"/>
          <p:cNvSpPr/>
          <p:nvPr/>
        </p:nvSpPr>
        <p:spPr>
          <a:xfrm>
            <a:off x="1047750" y="9401175"/>
            <a:ext cx="16192500" cy="9525"/>
          </a:xfrm>
          <a:prstGeom prst="rect">
            <a:avLst/>
          </a:prstGeom>
          <a:solidFill>
            <a:srgbClr val="E4E2DA"/>
          </a:solidFill>
          <a:ln/>
        </p:spPr>
        <p:txBody>
          <a:bodyPr/>
          <a:lstStyle/>
          <a:p>
            <a:endParaRPr lang="en-GB"/>
          </a:p>
        </p:txBody>
      </p:sp>
      <p:sp>
        <p:nvSpPr>
          <p:cNvPr id="13" name="Text 11"/>
          <p:cNvSpPr/>
          <p:nvPr/>
        </p:nvSpPr>
        <p:spPr>
          <a:xfrm>
            <a:off x="1047750" y="9582150"/>
            <a:ext cx="4884480"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FIZIČKA INTERAKCIJA S LJUDIMA</a:t>
            </a:r>
            <a:endParaRPr lang="en-US" sz="1800" dirty="0"/>
          </a:p>
        </p:txBody>
      </p:sp>
      <p:sp>
        <p:nvSpPr>
          <p:cNvPr id="14" name="Text 12"/>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014686"/>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FIZIČKA INTERAKCIJA S LJUDIMA · 02</a:t>
            </a:r>
            <a:endParaRPr lang="en-US" sz="1800" dirty="0"/>
          </a:p>
        </p:txBody>
      </p:sp>
      <p:sp>
        <p:nvSpPr>
          <p:cNvPr id="3" name="Text 1"/>
          <p:cNvSpPr/>
          <p:nvPr/>
        </p:nvSpPr>
        <p:spPr>
          <a:xfrm>
            <a:off x="1047750" y="2662386"/>
            <a:ext cx="7104056" cy="1916013"/>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Sigurnost ne počiva na krutosti, nego na popustljivosti.</a:t>
            </a:r>
            <a:endParaRPr lang="en-US" sz="4650" dirty="0"/>
          </a:p>
        </p:txBody>
      </p:sp>
      <p:sp>
        <p:nvSpPr>
          <p:cNvPr id="4" name="Shape 2"/>
          <p:cNvSpPr/>
          <p:nvPr/>
        </p:nvSpPr>
        <p:spPr>
          <a:xfrm>
            <a:off x="1047750" y="5035714"/>
            <a:ext cx="7639050" cy="2055614"/>
          </a:xfrm>
          <a:prstGeom prst="rect">
            <a:avLst/>
          </a:prstGeom>
          <a:solidFill>
            <a:srgbClr val="FFFFFF"/>
          </a:solidFill>
          <a:ln w="9525">
            <a:solidFill>
              <a:srgbClr val="E4E2DA"/>
            </a:solidFill>
            <a:prstDash val="solid"/>
          </a:ln>
        </p:spPr>
        <p:txBody>
          <a:bodyPr/>
          <a:lstStyle/>
          <a:p>
            <a:endParaRPr lang="en-GB"/>
          </a:p>
        </p:txBody>
      </p:sp>
      <p:sp>
        <p:nvSpPr>
          <p:cNvPr id="5" name="Text 3"/>
          <p:cNvSpPr/>
          <p:nvPr/>
        </p:nvSpPr>
        <p:spPr>
          <a:xfrm>
            <a:off x="1362075" y="5330989"/>
            <a:ext cx="771144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6E6B62"/>
                </a:solidFill>
                <a:latin typeface="Courier New" pitchFamily="34" charset="0"/>
                <a:ea typeface="Courier New" pitchFamily="34" charset="-122"/>
                <a:cs typeface="Courier New" pitchFamily="34" charset="-120"/>
              </a:rPr>
              <a:t>POZICIJSKO UPRAVLJANJE</a:t>
            </a:r>
            <a:endParaRPr lang="en-US" sz="1800" dirty="0"/>
          </a:p>
        </p:txBody>
      </p:sp>
      <p:sp>
        <p:nvSpPr>
          <p:cNvPr id="6" name="Text 4"/>
          <p:cNvSpPr/>
          <p:nvPr/>
        </p:nvSpPr>
        <p:spPr>
          <a:xfrm>
            <a:off x="1362075" y="5746219"/>
            <a:ext cx="7711440"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5140F"/>
                </a:solidFill>
                <a:latin typeface="Helvetica" pitchFamily="34" charset="0"/>
                <a:ea typeface="Helvetica" pitchFamily="34" charset="-122"/>
                <a:cs typeface="Helvetica" pitchFamily="34" charset="-120"/>
              </a:rPr>
              <a:t>Kruti servomehanizam</a:t>
            </a:r>
            <a:endParaRPr lang="en-US" sz="2250" dirty="0"/>
          </a:p>
        </p:txBody>
      </p:sp>
      <p:sp>
        <p:nvSpPr>
          <p:cNvPr id="7" name="Text 5"/>
          <p:cNvSpPr/>
          <p:nvPr/>
        </p:nvSpPr>
        <p:spPr>
          <a:xfrm>
            <a:off x="1362075" y="6165319"/>
            <a:ext cx="7711440" cy="353467"/>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1800" dirty="0">
                <a:solidFill>
                  <a:srgbClr val="6E6B62"/>
                </a:solidFill>
                <a:latin typeface="Helvetica" pitchFamily="34" charset="0"/>
                <a:ea typeface="Helvetica" pitchFamily="34" charset="-122"/>
                <a:cs typeface="Helvetica" pitchFamily="34" charset="-120"/>
              </a:rPr>
              <a:t>Slijedi putanju bez popuštanja → sva energija sudara ide u čovjeka.</a:t>
            </a:r>
            <a:endParaRPr lang="en-US" sz="1800" dirty="0"/>
          </a:p>
        </p:txBody>
      </p:sp>
      <p:sp>
        <p:nvSpPr>
          <p:cNvPr id="8" name="Text 6"/>
          <p:cNvSpPr/>
          <p:nvPr/>
        </p:nvSpPr>
        <p:spPr>
          <a:xfrm>
            <a:off x="8953500" y="5849208"/>
            <a:ext cx="426720" cy="466725"/>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9A968B"/>
                </a:solidFill>
                <a:latin typeface="Helvetica" pitchFamily="34" charset="0"/>
                <a:ea typeface="Helvetica" pitchFamily="34" charset="-122"/>
                <a:cs typeface="Helvetica" pitchFamily="34" charset="-120"/>
              </a:rPr>
              <a:t>→</a:t>
            </a:r>
            <a:endParaRPr lang="en-US" sz="3000" dirty="0"/>
          </a:p>
        </p:txBody>
      </p:sp>
      <p:sp>
        <p:nvSpPr>
          <p:cNvPr id="9" name="Shape 7"/>
          <p:cNvSpPr/>
          <p:nvPr/>
        </p:nvSpPr>
        <p:spPr>
          <a:xfrm>
            <a:off x="9601200" y="5035714"/>
            <a:ext cx="7639050" cy="2055614"/>
          </a:xfrm>
          <a:prstGeom prst="rect">
            <a:avLst/>
          </a:prstGeom>
          <a:solidFill>
            <a:srgbClr val="F5C518"/>
          </a:solidFill>
          <a:ln w="9525">
            <a:solidFill>
              <a:srgbClr val="15140F"/>
            </a:solidFill>
            <a:prstDash val="solid"/>
          </a:ln>
        </p:spPr>
        <p:txBody>
          <a:bodyPr/>
          <a:lstStyle/>
          <a:p>
            <a:endParaRPr lang="en-GB"/>
          </a:p>
        </p:txBody>
      </p:sp>
      <p:sp>
        <p:nvSpPr>
          <p:cNvPr id="10" name="Text 8"/>
          <p:cNvSpPr/>
          <p:nvPr/>
        </p:nvSpPr>
        <p:spPr>
          <a:xfrm>
            <a:off x="9915525" y="5330989"/>
            <a:ext cx="771144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5A4D00"/>
                </a:solidFill>
                <a:latin typeface="Courier New" pitchFamily="34" charset="0"/>
                <a:ea typeface="Courier New" pitchFamily="34" charset="-122"/>
                <a:cs typeface="Courier New" pitchFamily="34" charset="-120"/>
              </a:rPr>
              <a:t>UPRAVLJANJE IMPEDANCIJOM</a:t>
            </a:r>
            <a:endParaRPr lang="en-US" sz="1800" dirty="0"/>
          </a:p>
        </p:txBody>
      </p:sp>
      <p:sp>
        <p:nvSpPr>
          <p:cNvPr id="11" name="Text 9"/>
          <p:cNvSpPr/>
          <p:nvPr/>
        </p:nvSpPr>
        <p:spPr>
          <a:xfrm>
            <a:off x="9915525" y="5746219"/>
            <a:ext cx="7711440"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5140F"/>
                </a:solidFill>
                <a:latin typeface="Helvetica" pitchFamily="34" charset="0"/>
                <a:ea typeface="Helvetica" pitchFamily="34" charset="-122"/>
                <a:cs typeface="Helvetica" pitchFamily="34" charset="-120"/>
              </a:rPr>
              <a:t>Masa–prigušnica–opruga</a:t>
            </a:r>
            <a:endParaRPr lang="en-US" sz="2250" dirty="0"/>
          </a:p>
        </p:txBody>
      </p:sp>
      <p:sp>
        <p:nvSpPr>
          <p:cNvPr id="12" name="Text 10"/>
          <p:cNvSpPr/>
          <p:nvPr/>
        </p:nvSpPr>
        <p:spPr>
          <a:xfrm>
            <a:off x="9915525" y="6165319"/>
            <a:ext cx="7220712" cy="668834"/>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1800" dirty="0">
                <a:solidFill>
                  <a:srgbClr val="3D3500"/>
                </a:solidFill>
                <a:latin typeface="Helvetica" pitchFamily="34" charset="0"/>
                <a:ea typeface="Helvetica" pitchFamily="34" charset="-122"/>
                <a:cs typeface="Helvetica" pitchFamily="34" charset="-120"/>
              </a:rPr>
              <a:t>Zglobovi se meko zakreću → udar se disipira. Mijenja se regulacijska, ne mehanička krutost.</a:t>
            </a:r>
            <a:endParaRPr lang="en-US" sz="1800" dirty="0"/>
          </a:p>
        </p:txBody>
      </p:sp>
      <p:sp>
        <p:nvSpPr>
          <p:cNvPr id="13" name="Text 11"/>
          <p:cNvSpPr/>
          <p:nvPr/>
        </p:nvSpPr>
        <p:spPr>
          <a:xfrm>
            <a:off x="1047750" y="7700928"/>
            <a:ext cx="17811750"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6E6B62"/>
                </a:solidFill>
                <a:latin typeface="Courier New" pitchFamily="34" charset="0"/>
                <a:ea typeface="Courier New" pitchFamily="34" charset="-122"/>
                <a:cs typeface="Courier New" pitchFamily="34" charset="-120"/>
              </a:rPr>
              <a:t>Varijabilna impedancija </a:t>
            </a:r>
            <a:r>
              <a:rPr lang="en-US" sz="1875" dirty="0">
                <a:solidFill>
                  <a:srgbClr val="6E6B62"/>
                </a:solidFill>
                <a:latin typeface="Helvetica" pitchFamily="34" charset="0"/>
                <a:ea typeface="Helvetica" pitchFamily="34" charset="-122"/>
                <a:cs typeface="Helvetica" pitchFamily="34" charset="-120"/>
              </a:rPr>
              <a:t>miri sigurnost i produktivnost: blizu čovjeka — meko i sporo; daleko — kruto i brzo.</a:t>
            </a:r>
            <a:endParaRPr lang="en-US" sz="1875" dirty="0"/>
          </a:p>
        </p:txBody>
      </p:sp>
      <p:sp>
        <p:nvSpPr>
          <p:cNvPr id="14" name="Shape 12"/>
          <p:cNvSpPr/>
          <p:nvPr/>
        </p:nvSpPr>
        <p:spPr>
          <a:xfrm>
            <a:off x="1047750" y="9401175"/>
            <a:ext cx="16192500" cy="9525"/>
          </a:xfrm>
          <a:prstGeom prst="rect">
            <a:avLst/>
          </a:prstGeom>
          <a:solidFill>
            <a:srgbClr val="E4E2DA"/>
          </a:solidFill>
          <a:ln/>
        </p:spPr>
        <p:txBody>
          <a:bodyPr/>
          <a:lstStyle/>
          <a:p>
            <a:endParaRPr lang="en-GB"/>
          </a:p>
        </p:txBody>
      </p:sp>
      <p:sp>
        <p:nvSpPr>
          <p:cNvPr id="15" name="Text 13"/>
          <p:cNvSpPr/>
          <p:nvPr/>
        </p:nvSpPr>
        <p:spPr>
          <a:xfrm>
            <a:off x="1047750" y="9582150"/>
            <a:ext cx="4884480"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FIZIČKA INTERAKCIJA S LJUDIMA</a:t>
            </a:r>
            <a:endParaRPr lang="en-US" sz="1800" dirty="0"/>
          </a:p>
        </p:txBody>
      </p:sp>
      <p:sp>
        <p:nvSpPr>
          <p:cNvPr id="16" name="Text 14"/>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422029"/>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SCENARIJI OTKAZIVANJA · 01</a:t>
            </a:r>
            <a:endParaRPr lang="en-US" sz="1800" dirty="0"/>
          </a:p>
        </p:txBody>
      </p:sp>
      <p:sp>
        <p:nvSpPr>
          <p:cNvPr id="3" name="Text 1"/>
          <p:cNvSpPr/>
          <p:nvPr/>
        </p:nvSpPr>
        <p:spPr>
          <a:xfrm>
            <a:off x="1047750" y="3069729"/>
            <a:ext cx="7104056" cy="129004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Pogreška se kaskadno širi kroz cijeli lanac.</a:t>
            </a:r>
            <a:endParaRPr lang="en-US" sz="4650" dirty="0"/>
          </a:p>
        </p:txBody>
      </p:sp>
      <p:sp>
        <p:nvSpPr>
          <p:cNvPr id="4" name="Shape 2"/>
          <p:cNvSpPr/>
          <p:nvPr/>
        </p:nvSpPr>
        <p:spPr>
          <a:xfrm>
            <a:off x="1047750" y="5360009"/>
            <a:ext cx="2249686" cy="19050"/>
          </a:xfrm>
          <a:prstGeom prst="rect">
            <a:avLst/>
          </a:prstGeom>
          <a:solidFill>
            <a:srgbClr val="1A1813"/>
          </a:solidFill>
          <a:ln/>
        </p:spPr>
        <p:txBody>
          <a:bodyPr/>
          <a:lstStyle/>
          <a:p>
            <a:endParaRPr lang="en-GB"/>
          </a:p>
        </p:txBody>
      </p:sp>
      <p:sp>
        <p:nvSpPr>
          <p:cNvPr id="5" name="Text 3"/>
          <p:cNvSpPr/>
          <p:nvPr/>
        </p:nvSpPr>
        <p:spPr>
          <a:xfrm>
            <a:off x="1238250" y="4931384"/>
            <a:ext cx="194488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PODSUSTAV</a:t>
            </a:r>
            <a:endParaRPr lang="en-US" sz="1800" dirty="0"/>
          </a:p>
        </p:txBody>
      </p:sp>
      <p:sp>
        <p:nvSpPr>
          <p:cNvPr id="6" name="Shape 4"/>
          <p:cNvSpPr/>
          <p:nvPr/>
        </p:nvSpPr>
        <p:spPr>
          <a:xfrm>
            <a:off x="3297436" y="5360009"/>
            <a:ext cx="5579864" cy="19050"/>
          </a:xfrm>
          <a:prstGeom prst="rect">
            <a:avLst/>
          </a:prstGeom>
          <a:solidFill>
            <a:srgbClr val="1A1813"/>
          </a:solidFill>
          <a:ln/>
        </p:spPr>
        <p:txBody>
          <a:bodyPr/>
          <a:lstStyle/>
          <a:p>
            <a:endParaRPr lang="en-GB"/>
          </a:p>
        </p:txBody>
      </p:sp>
      <p:sp>
        <p:nvSpPr>
          <p:cNvPr id="7" name="Text 5"/>
          <p:cNvSpPr/>
          <p:nvPr/>
        </p:nvSpPr>
        <p:spPr>
          <a:xfrm>
            <a:off x="3487936" y="4931384"/>
            <a:ext cx="536626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TIPIČAN UZROK → POSLJEDICA</a:t>
            </a:r>
            <a:endParaRPr lang="en-US" sz="1800" dirty="0"/>
          </a:p>
        </p:txBody>
      </p:sp>
      <p:sp>
        <p:nvSpPr>
          <p:cNvPr id="8" name="Shape 6"/>
          <p:cNvSpPr/>
          <p:nvPr/>
        </p:nvSpPr>
        <p:spPr>
          <a:xfrm>
            <a:off x="1047750" y="5993421"/>
            <a:ext cx="2249686" cy="9525"/>
          </a:xfrm>
          <a:prstGeom prst="rect">
            <a:avLst/>
          </a:prstGeom>
          <a:solidFill>
            <a:srgbClr val="E4E2DA"/>
          </a:solidFill>
          <a:ln/>
        </p:spPr>
        <p:txBody>
          <a:bodyPr/>
          <a:lstStyle/>
          <a:p>
            <a:endParaRPr lang="en-GB"/>
          </a:p>
        </p:txBody>
      </p:sp>
      <p:sp>
        <p:nvSpPr>
          <p:cNvPr id="9" name="Text 7"/>
          <p:cNvSpPr/>
          <p:nvPr/>
        </p:nvSpPr>
        <p:spPr>
          <a:xfrm>
            <a:off x="1238250" y="5550509"/>
            <a:ext cx="1944886" cy="309562"/>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Percepcija</a:t>
            </a:r>
            <a:endParaRPr lang="en-US" sz="1800" dirty="0"/>
          </a:p>
        </p:txBody>
      </p:sp>
      <p:sp>
        <p:nvSpPr>
          <p:cNvPr id="10" name="Shape 8"/>
          <p:cNvSpPr/>
          <p:nvPr/>
        </p:nvSpPr>
        <p:spPr>
          <a:xfrm>
            <a:off x="3297436" y="5993421"/>
            <a:ext cx="5579864" cy="9525"/>
          </a:xfrm>
          <a:prstGeom prst="rect">
            <a:avLst/>
          </a:prstGeom>
          <a:solidFill>
            <a:srgbClr val="E4E2DA"/>
          </a:solidFill>
          <a:ln/>
        </p:spPr>
        <p:txBody>
          <a:bodyPr/>
          <a:lstStyle/>
          <a:p>
            <a:endParaRPr lang="en-GB"/>
          </a:p>
        </p:txBody>
      </p:sp>
      <p:sp>
        <p:nvSpPr>
          <p:cNvPr id="11" name="Text 9"/>
          <p:cNvSpPr/>
          <p:nvPr/>
        </p:nvSpPr>
        <p:spPr>
          <a:xfrm>
            <a:off x="3487936" y="5550509"/>
            <a:ext cx="5366260" cy="309562"/>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Gubitak praćenja, okluzija → kriva procjena stanja</a:t>
            </a:r>
            <a:endParaRPr lang="en-US" sz="1800" dirty="0"/>
          </a:p>
        </p:txBody>
      </p:sp>
      <p:sp>
        <p:nvSpPr>
          <p:cNvPr id="12" name="Shape 10"/>
          <p:cNvSpPr/>
          <p:nvPr/>
        </p:nvSpPr>
        <p:spPr>
          <a:xfrm>
            <a:off x="1047750" y="6612546"/>
            <a:ext cx="2249686" cy="9525"/>
          </a:xfrm>
          <a:prstGeom prst="rect">
            <a:avLst/>
          </a:prstGeom>
          <a:solidFill>
            <a:srgbClr val="E4E2DA"/>
          </a:solidFill>
          <a:ln/>
        </p:spPr>
        <p:txBody>
          <a:bodyPr/>
          <a:lstStyle/>
          <a:p>
            <a:endParaRPr lang="en-GB"/>
          </a:p>
        </p:txBody>
      </p:sp>
      <p:sp>
        <p:nvSpPr>
          <p:cNvPr id="13" name="Text 11"/>
          <p:cNvSpPr/>
          <p:nvPr/>
        </p:nvSpPr>
        <p:spPr>
          <a:xfrm>
            <a:off x="1238250" y="6174396"/>
            <a:ext cx="194488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Lokomocija</a:t>
            </a:r>
            <a:endParaRPr lang="en-US" sz="1800" dirty="0"/>
          </a:p>
        </p:txBody>
      </p:sp>
      <p:sp>
        <p:nvSpPr>
          <p:cNvPr id="14" name="Shape 12"/>
          <p:cNvSpPr/>
          <p:nvPr/>
        </p:nvSpPr>
        <p:spPr>
          <a:xfrm>
            <a:off x="3297436" y="6612546"/>
            <a:ext cx="5579864" cy="9525"/>
          </a:xfrm>
          <a:prstGeom prst="rect">
            <a:avLst/>
          </a:prstGeom>
          <a:solidFill>
            <a:srgbClr val="E4E2DA"/>
          </a:solidFill>
          <a:ln/>
        </p:spPr>
        <p:txBody>
          <a:bodyPr/>
          <a:lstStyle/>
          <a:p>
            <a:endParaRPr lang="en-GB"/>
          </a:p>
        </p:txBody>
      </p:sp>
      <p:sp>
        <p:nvSpPr>
          <p:cNvPr id="15" name="Text 13"/>
          <p:cNvSpPr/>
          <p:nvPr/>
        </p:nvSpPr>
        <p:spPr>
          <a:xfrm>
            <a:off x="3487936" y="6174396"/>
            <a:ext cx="536626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Klizanje, zasićenje aktuatora → pad</a:t>
            </a:r>
            <a:endParaRPr lang="en-US" sz="1800" dirty="0"/>
          </a:p>
        </p:txBody>
      </p:sp>
      <p:sp>
        <p:nvSpPr>
          <p:cNvPr id="16" name="Shape 14"/>
          <p:cNvSpPr/>
          <p:nvPr/>
        </p:nvSpPr>
        <p:spPr>
          <a:xfrm>
            <a:off x="1047750" y="7231671"/>
            <a:ext cx="2249686" cy="9525"/>
          </a:xfrm>
          <a:prstGeom prst="rect">
            <a:avLst/>
          </a:prstGeom>
          <a:solidFill>
            <a:srgbClr val="E4E2DA"/>
          </a:solidFill>
          <a:ln/>
        </p:spPr>
        <p:txBody>
          <a:bodyPr/>
          <a:lstStyle/>
          <a:p>
            <a:endParaRPr lang="en-GB"/>
          </a:p>
        </p:txBody>
      </p:sp>
      <p:sp>
        <p:nvSpPr>
          <p:cNvPr id="17" name="Text 15"/>
          <p:cNvSpPr/>
          <p:nvPr/>
        </p:nvSpPr>
        <p:spPr>
          <a:xfrm>
            <a:off x="1238250" y="6793521"/>
            <a:ext cx="194488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Manipulacija</a:t>
            </a:r>
            <a:endParaRPr lang="en-US" sz="1800" dirty="0"/>
          </a:p>
        </p:txBody>
      </p:sp>
      <p:sp>
        <p:nvSpPr>
          <p:cNvPr id="18" name="Shape 16"/>
          <p:cNvSpPr/>
          <p:nvPr/>
        </p:nvSpPr>
        <p:spPr>
          <a:xfrm>
            <a:off x="3297436" y="7231671"/>
            <a:ext cx="5579864" cy="9525"/>
          </a:xfrm>
          <a:prstGeom prst="rect">
            <a:avLst/>
          </a:prstGeom>
          <a:solidFill>
            <a:srgbClr val="E4E2DA"/>
          </a:solidFill>
          <a:ln/>
        </p:spPr>
        <p:txBody>
          <a:bodyPr/>
          <a:lstStyle/>
          <a:p>
            <a:endParaRPr lang="en-GB"/>
          </a:p>
        </p:txBody>
      </p:sp>
      <p:sp>
        <p:nvSpPr>
          <p:cNvPr id="19" name="Text 17"/>
          <p:cNvSpPr/>
          <p:nvPr/>
        </p:nvSpPr>
        <p:spPr>
          <a:xfrm>
            <a:off x="3487936" y="6793521"/>
            <a:ext cx="536626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Sklizak predmet → ispadanje tereta</a:t>
            </a:r>
            <a:endParaRPr lang="en-US" sz="1800" dirty="0"/>
          </a:p>
        </p:txBody>
      </p:sp>
      <p:sp>
        <p:nvSpPr>
          <p:cNvPr id="20" name="Shape 18"/>
          <p:cNvSpPr/>
          <p:nvPr/>
        </p:nvSpPr>
        <p:spPr>
          <a:xfrm>
            <a:off x="1047750" y="7850796"/>
            <a:ext cx="2249686" cy="9525"/>
          </a:xfrm>
          <a:prstGeom prst="rect">
            <a:avLst/>
          </a:prstGeom>
          <a:solidFill>
            <a:srgbClr val="E4E2DA"/>
          </a:solidFill>
          <a:ln/>
        </p:spPr>
        <p:txBody>
          <a:bodyPr/>
          <a:lstStyle/>
          <a:p>
            <a:endParaRPr lang="en-GB"/>
          </a:p>
        </p:txBody>
      </p:sp>
      <p:sp>
        <p:nvSpPr>
          <p:cNvPr id="21" name="Text 19"/>
          <p:cNvSpPr/>
          <p:nvPr/>
        </p:nvSpPr>
        <p:spPr>
          <a:xfrm>
            <a:off x="1238250" y="7412646"/>
            <a:ext cx="194488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Softver / hardver</a:t>
            </a:r>
            <a:endParaRPr lang="en-US" sz="1800" dirty="0"/>
          </a:p>
        </p:txBody>
      </p:sp>
      <p:sp>
        <p:nvSpPr>
          <p:cNvPr id="22" name="Shape 20"/>
          <p:cNvSpPr/>
          <p:nvPr/>
        </p:nvSpPr>
        <p:spPr>
          <a:xfrm>
            <a:off x="3297436" y="7850796"/>
            <a:ext cx="5579864" cy="9525"/>
          </a:xfrm>
          <a:prstGeom prst="rect">
            <a:avLst/>
          </a:prstGeom>
          <a:solidFill>
            <a:srgbClr val="E4E2DA"/>
          </a:solidFill>
          <a:ln/>
        </p:spPr>
        <p:txBody>
          <a:bodyPr/>
          <a:lstStyle/>
          <a:p>
            <a:endParaRPr lang="en-GB"/>
          </a:p>
        </p:txBody>
      </p:sp>
      <p:sp>
        <p:nvSpPr>
          <p:cNvPr id="23" name="Text 21"/>
          <p:cNvSpPr/>
          <p:nvPr/>
        </p:nvSpPr>
        <p:spPr>
          <a:xfrm>
            <a:off x="3487936" y="7412646"/>
            <a:ext cx="536626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Numerička nestabilnost → gubitak upravljanja</a:t>
            </a:r>
            <a:endParaRPr lang="en-US" sz="1800" dirty="0"/>
          </a:p>
        </p:txBody>
      </p:sp>
      <p:sp>
        <p:nvSpPr>
          <p:cNvPr id="24" name="Shape 22"/>
          <p:cNvSpPr/>
          <p:nvPr/>
        </p:nvSpPr>
        <p:spPr>
          <a:xfrm>
            <a:off x="9410700" y="4970377"/>
            <a:ext cx="7829550" cy="2684264"/>
          </a:xfrm>
          <a:prstGeom prst="rect">
            <a:avLst/>
          </a:prstGeom>
          <a:solidFill>
            <a:srgbClr val="FFFFFF"/>
          </a:solidFill>
          <a:ln w="9525">
            <a:solidFill>
              <a:srgbClr val="15140F"/>
            </a:solidFill>
            <a:prstDash val="solid"/>
          </a:ln>
        </p:spPr>
        <p:txBody>
          <a:bodyPr/>
          <a:lstStyle/>
          <a:p>
            <a:endParaRPr lang="en-GB"/>
          </a:p>
        </p:txBody>
      </p:sp>
      <p:sp>
        <p:nvSpPr>
          <p:cNvPr id="25" name="Text 23"/>
          <p:cNvSpPr/>
          <p:nvPr/>
        </p:nvSpPr>
        <p:spPr>
          <a:xfrm>
            <a:off x="9725025" y="5265652"/>
            <a:ext cx="792099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6E6B62"/>
                </a:solidFill>
                <a:latin typeface="Courier New" pitchFamily="34" charset="0"/>
                <a:ea typeface="Courier New" pitchFamily="34" charset="-122"/>
                <a:cs typeface="Courier New" pitchFamily="34" charset="-120"/>
              </a:rPr>
              <a:t>VREMENSKI GRADIJENT PADA</a:t>
            </a:r>
            <a:endParaRPr lang="en-US" sz="1800" dirty="0"/>
          </a:p>
        </p:txBody>
      </p:sp>
      <p:sp>
        <p:nvSpPr>
          <p:cNvPr id="26" name="Text 24"/>
          <p:cNvSpPr/>
          <p:nvPr/>
        </p:nvSpPr>
        <p:spPr>
          <a:xfrm>
            <a:off x="9725025" y="5680882"/>
            <a:ext cx="3356402"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15140F"/>
                </a:solidFill>
                <a:latin typeface="Helvetica" pitchFamily="34" charset="0"/>
                <a:ea typeface="Helvetica" pitchFamily="34" charset="-122"/>
                <a:cs typeface="Helvetica" pitchFamily="34" charset="-120"/>
              </a:rPr>
              <a:t>50–200</a:t>
            </a:r>
            <a:endParaRPr lang="en-US" sz="7200" dirty="0"/>
          </a:p>
        </p:txBody>
      </p:sp>
      <p:sp>
        <p:nvSpPr>
          <p:cNvPr id="27" name="Text 25"/>
          <p:cNvSpPr/>
          <p:nvPr/>
        </p:nvSpPr>
        <p:spPr>
          <a:xfrm>
            <a:off x="12890599" y="6185707"/>
            <a:ext cx="505153"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5140F"/>
                </a:solidFill>
                <a:latin typeface="Courier New" pitchFamily="34" charset="0"/>
                <a:ea typeface="Courier New" pitchFamily="34" charset="-122"/>
                <a:cs typeface="Courier New" pitchFamily="34" charset="-120"/>
              </a:rPr>
              <a:t>ms</a:t>
            </a:r>
            <a:endParaRPr lang="en-US" sz="2250" dirty="0"/>
          </a:p>
        </p:txBody>
      </p:sp>
      <p:sp>
        <p:nvSpPr>
          <p:cNvPr id="28" name="Text 26"/>
          <p:cNvSpPr/>
          <p:nvPr/>
        </p:nvSpPr>
        <p:spPr>
          <a:xfrm>
            <a:off x="9725025" y="6728632"/>
            <a:ext cx="7416927" cy="668834"/>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1800" dirty="0">
                <a:solidFill>
                  <a:srgbClr val="15140F"/>
                </a:solidFill>
                <a:latin typeface="Helvetica" pitchFamily="34" charset="0"/>
                <a:ea typeface="Helvetica" pitchFamily="34" charset="-122"/>
                <a:cs typeface="Helvetica" pitchFamily="34" charset="-120"/>
              </a:rPr>
              <a:t>Od prve pogreške do pada — prebrzo za kognitivne slojeve, traži </a:t>
            </a:r>
            <a:r>
              <a:rPr lang="en-US" sz="1800" dirty="0">
                <a:solidFill>
                  <a:srgbClr val="15140F"/>
                </a:solidFill>
                <a:highlight>
                  <a:srgbClr val="F5C518"/>
                </a:highlight>
                <a:latin typeface="Helvetica" pitchFamily="34" charset="0"/>
                <a:ea typeface="Helvetica" pitchFamily="34" charset="-122"/>
                <a:cs typeface="Helvetica" pitchFamily="34" charset="-120"/>
              </a:rPr>
              <a:t>brze reflekse </a:t>
            </a:r>
            <a:r>
              <a:rPr lang="en-US" sz="1800" dirty="0">
                <a:solidFill>
                  <a:srgbClr val="15140F"/>
                </a:solidFill>
                <a:latin typeface="Helvetica" pitchFamily="34" charset="0"/>
                <a:ea typeface="Helvetica" pitchFamily="34" charset="-122"/>
                <a:cs typeface="Helvetica" pitchFamily="34" charset="-120"/>
              </a:rPr>
              <a:t>.</a:t>
            </a:r>
            <a:endParaRPr lang="en-US" sz="1800" dirty="0"/>
          </a:p>
        </p:txBody>
      </p:sp>
      <p:sp>
        <p:nvSpPr>
          <p:cNvPr id="29" name="Shape 27"/>
          <p:cNvSpPr/>
          <p:nvPr/>
        </p:nvSpPr>
        <p:spPr>
          <a:xfrm>
            <a:off x="1047750" y="9401175"/>
            <a:ext cx="16192500" cy="9525"/>
          </a:xfrm>
          <a:prstGeom prst="rect">
            <a:avLst/>
          </a:prstGeom>
          <a:solidFill>
            <a:srgbClr val="E4E2DA"/>
          </a:solidFill>
          <a:ln/>
        </p:spPr>
        <p:txBody>
          <a:bodyPr/>
          <a:lstStyle/>
          <a:p>
            <a:endParaRPr lang="en-GB"/>
          </a:p>
        </p:txBody>
      </p:sp>
      <p:sp>
        <p:nvSpPr>
          <p:cNvPr id="30" name="Text 28"/>
          <p:cNvSpPr/>
          <p:nvPr/>
        </p:nvSpPr>
        <p:spPr>
          <a:xfrm>
            <a:off x="1047750" y="9582150"/>
            <a:ext cx="353713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SCENARIJI OTKAZIVANJA</a:t>
            </a:r>
            <a:endParaRPr lang="en-US" sz="1800" dirty="0"/>
          </a:p>
        </p:txBody>
      </p:sp>
      <p:sp>
        <p:nvSpPr>
          <p:cNvPr id="31" name="Text 29"/>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534989"/>
            <a:ext cx="8570595"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SCENARIJI OTKAZIVANJA · 02</a:t>
            </a:r>
            <a:endParaRPr lang="en-US" sz="1800" dirty="0"/>
          </a:p>
        </p:txBody>
      </p:sp>
      <p:sp>
        <p:nvSpPr>
          <p:cNvPr id="3" name="Text 1"/>
          <p:cNvSpPr/>
          <p:nvPr/>
        </p:nvSpPr>
        <p:spPr>
          <a:xfrm>
            <a:off x="1047750" y="3030289"/>
            <a:ext cx="7104056" cy="1916013"/>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Mnoštvo pouzdanih dijelova daje nepouzdanu cjelinu.</a:t>
            </a:r>
            <a:endParaRPr lang="en-US" sz="4650" dirty="0"/>
          </a:p>
        </p:txBody>
      </p:sp>
      <p:sp>
        <p:nvSpPr>
          <p:cNvPr id="4" name="Shape 2"/>
          <p:cNvSpPr/>
          <p:nvPr/>
        </p:nvSpPr>
        <p:spPr>
          <a:xfrm>
            <a:off x="1047750" y="5398853"/>
            <a:ext cx="3801963" cy="809625"/>
          </a:xfrm>
          <a:prstGeom prst="rect">
            <a:avLst/>
          </a:prstGeom>
          <a:solidFill>
            <a:srgbClr val="FFFFFF"/>
          </a:solidFill>
          <a:ln w="9525">
            <a:solidFill>
              <a:srgbClr val="E4E2DA"/>
            </a:solidFill>
            <a:prstDash val="solid"/>
          </a:ln>
        </p:spPr>
        <p:txBody>
          <a:bodyPr/>
          <a:lstStyle/>
          <a:p>
            <a:endParaRPr lang="en-GB"/>
          </a:p>
        </p:txBody>
      </p:sp>
      <p:sp>
        <p:nvSpPr>
          <p:cNvPr id="5" name="Text 3"/>
          <p:cNvSpPr/>
          <p:nvPr/>
        </p:nvSpPr>
        <p:spPr>
          <a:xfrm>
            <a:off x="1285875" y="5567361"/>
            <a:ext cx="3439772" cy="485775"/>
          </a:xfrm>
          <a:prstGeom prst="rect">
            <a:avLst/>
          </a:prstGeom>
          <a:noFill/>
          <a:ln/>
        </p:spPr>
        <p:txBody>
          <a:bodyPr wrap="none" lIns="25400" tIns="25400" rIns="25400" bIns="25400" rtlCol="0" anchor="t">
            <a:normAutofit/>
          </a:bodyPr>
          <a:lstStyle/>
          <a:p>
            <a:pPr marL="0" indent="0" algn="l">
              <a:buNone/>
            </a:pPr>
            <a:r>
              <a:rPr lang="en-US" sz="2250" dirty="0">
                <a:solidFill>
                  <a:srgbClr val="15140F"/>
                </a:solidFill>
                <a:highlight>
                  <a:srgbClr val="FFFFFF"/>
                </a:highlight>
                <a:latin typeface="Courier New" pitchFamily="34" charset="0"/>
                <a:ea typeface="Courier New" pitchFamily="34" charset="-122"/>
                <a:cs typeface="Courier New" pitchFamily="34" charset="-120"/>
              </a:rPr>
              <a:t>R</a:t>
            </a:r>
            <a:r>
              <a:rPr lang="en-US" sz="1875" baseline="-40000" dirty="0">
                <a:solidFill>
                  <a:srgbClr val="15140F"/>
                </a:solidFill>
                <a:latin typeface="Courier New" pitchFamily="34" charset="0"/>
                <a:ea typeface="Courier New" pitchFamily="34" charset="-122"/>
                <a:cs typeface="Courier New" pitchFamily="34" charset="-120"/>
              </a:rPr>
              <a:t>sus </a:t>
            </a:r>
            <a:r>
              <a:rPr lang="en-US" sz="2250" dirty="0">
                <a:solidFill>
                  <a:srgbClr val="15140F"/>
                </a:solidFill>
                <a:highlight>
                  <a:srgbClr val="FFFFFF"/>
                </a:highlight>
                <a:latin typeface="Courier New" pitchFamily="34" charset="0"/>
                <a:ea typeface="Courier New" pitchFamily="34" charset="-122"/>
                <a:cs typeface="Courier New" pitchFamily="34" charset="-120"/>
              </a:rPr>
              <a:t>= Π Rᵢ = 0,99</a:t>
            </a:r>
            <a:r>
              <a:rPr lang="en-US" sz="1875" baseline="30000" dirty="0">
                <a:solidFill>
                  <a:srgbClr val="15140F"/>
                </a:solidFill>
                <a:latin typeface="Courier New" pitchFamily="34" charset="0"/>
                <a:ea typeface="Courier New" pitchFamily="34" charset="-122"/>
                <a:cs typeface="Courier New" pitchFamily="34" charset="-120"/>
              </a:rPr>
              <a:t>30</a:t>
            </a:r>
            <a:endParaRPr lang="en-US" sz="2250" dirty="0"/>
          </a:p>
        </p:txBody>
      </p:sp>
      <p:sp>
        <p:nvSpPr>
          <p:cNvPr id="6" name="Text 4"/>
          <p:cNvSpPr/>
          <p:nvPr/>
        </p:nvSpPr>
        <p:spPr>
          <a:xfrm>
            <a:off x="1047750" y="6175141"/>
            <a:ext cx="5565301" cy="1615083"/>
          </a:xfrm>
          <a:prstGeom prst="rect">
            <a:avLst/>
          </a:prstGeom>
          <a:noFill/>
          <a:ln/>
        </p:spPr>
        <p:txBody>
          <a:bodyPr wrap="square" lIns="25400" tIns="25400" rIns="25400" bIns="25400" rtlCol="0" anchor="t">
            <a:normAutofit/>
          </a:bodyPr>
          <a:lstStyle/>
          <a:p>
            <a:pPr marL="0" indent="0" algn="l">
              <a:lnSpc>
                <a:spcPct val="138000"/>
              </a:lnSpc>
              <a:buNone/>
            </a:pPr>
            <a:r>
              <a:rPr lang="en-US" sz="2250" dirty="0">
                <a:solidFill>
                  <a:srgbClr val="15140F"/>
                </a:solidFill>
                <a:latin typeface="Helvetica" pitchFamily="34" charset="0"/>
                <a:ea typeface="Helvetica" pitchFamily="34" charset="-122"/>
                <a:cs typeface="Helvetica" pitchFamily="34" charset="-120"/>
              </a:rPr>
              <a:t>Serijska struktura: robot radi tek ako rade svi podsustavi. Zato su nužni </a:t>
            </a:r>
            <a:r>
              <a:rPr lang="en-US" sz="2250" dirty="0">
                <a:solidFill>
                  <a:srgbClr val="15140F"/>
                </a:solidFill>
                <a:highlight>
                  <a:srgbClr val="F5C518"/>
                </a:highlight>
                <a:latin typeface="Helvetica" pitchFamily="34" charset="0"/>
                <a:ea typeface="Helvetica" pitchFamily="34" charset="-122"/>
                <a:cs typeface="Helvetica" pitchFamily="34" charset="-120"/>
              </a:rPr>
              <a:t>redundancija i FDIR </a:t>
            </a:r>
            <a:r>
              <a:rPr lang="en-US" sz="2250" dirty="0">
                <a:solidFill>
                  <a:srgbClr val="15140F"/>
                </a:solidFill>
                <a:latin typeface="Helvetica" pitchFamily="34" charset="0"/>
                <a:ea typeface="Helvetica" pitchFamily="34" charset="-122"/>
                <a:cs typeface="Helvetica" pitchFamily="34" charset="-120"/>
              </a:rPr>
              <a:t>, po načelu graceful degradation.</a:t>
            </a:r>
            <a:endParaRPr lang="en-US" sz="2250" dirty="0"/>
          </a:p>
        </p:txBody>
      </p:sp>
      <p:sp>
        <p:nvSpPr>
          <p:cNvPr id="7" name="Text 5"/>
          <p:cNvSpPr/>
          <p:nvPr/>
        </p:nvSpPr>
        <p:spPr>
          <a:xfrm>
            <a:off x="9448800" y="3381041"/>
            <a:ext cx="522892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6E6B62"/>
                </a:solidFill>
                <a:latin typeface="Courier New" pitchFamily="34" charset="0"/>
                <a:ea typeface="Courier New" pitchFamily="34" charset="-122"/>
                <a:cs typeface="Courier New" pitchFamily="34" charset="-120"/>
              </a:rPr>
              <a:t>30 KOMPONENTI × 99 % POUZDANOSTI</a:t>
            </a:r>
            <a:endParaRPr lang="en-US" sz="1800" dirty="0"/>
          </a:p>
        </p:txBody>
      </p:sp>
      <p:sp>
        <p:nvSpPr>
          <p:cNvPr id="8" name="Text 6"/>
          <p:cNvSpPr/>
          <p:nvPr/>
        </p:nvSpPr>
        <p:spPr>
          <a:xfrm>
            <a:off x="9448800" y="3758172"/>
            <a:ext cx="3307779" cy="2381250"/>
          </a:xfrm>
          <a:prstGeom prst="rect">
            <a:avLst/>
          </a:prstGeom>
          <a:noFill/>
          <a:ln/>
        </p:spPr>
        <p:txBody>
          <a:bodyPr wrap="none" lIns="25400" tIns="25400" rIns="25400" bIns="25400" rtlCol="0" anchor="t">
            <a:normAutofit fontScale="92500" lnSpcReduction="20000"/>
          </a:bodyPr>
          <a:lstStyle/>
          <a:p>
            <a:pPr marL="0" indent="0" algn="l">
              <a:lnSpc>
                <a:spcPct val="82000"/>
              </a:lnSpc>
              <a:buNone/>
            </a:pPr>
            <a:r>
              <a:rPr lang="en-US" sz="22500" b="1" kern="0" spc="-675" dirty="0">
                <a:solidFill>
                  <a:srgbClr val="15140F"/>
                </a:solidFill>
                <a:latin typeface="Helvetica" pitchFamily="34" charset="0"/>
                <a:ea typeface="Helvetica" pitchFamily="34" charset="-122"/>
                <a:cs typeface="Helvetica" pitchFamily="34" charset="-120"/>
              </a:rPr>
              <a:t>74</a:t>
            </a:r>
            <a:endParaRPr lang="en-US" sz="22500" dirty="0"/>
          </a:p>
        </p:txBody>
      </p:sp>
      <p:sp>
        <p:nvSpPr>
          <p:cNvPr id="9" name="Text 7"/>
          <p:cNvSpPr/>
          <p:nvPr/>
        </p:nvSpPr>
        <p:spPr>
          <a:xfrm>
            <a:off x="12627322" y="5225022"/>
            <a:ext cx="753814" cy="914400"/>
          </a:xfrm>
          <a:prstGeom prst="rect">
            <a:avLst/>
          </a:prstGeom>
          <a:noFill/>
          <a:ln/>
        </p:spPr>
        <p:txBody>
          <a:bodyPr wrap="square" lIns="25400" tIns="25400" rIns="25400" bIns="25400" rtlCol="0" anchor="t">
            <a:normAutofit lnSpcReduction="10000"/>
          </a:bodyPr>
          <a:lstStyle/>
          <a:p>
            <a:pPr marL="0" indent="0" algn="l">
              <a:buNone/>
            </a:pPr>
            <a:r>
              <a:rPr lang="en-US" sz="6000" b="1" dirty="0">
                <a:solidFill>
                  <a:srgbClr val="15140F"/>
                </a:solidFill>
                <a:latin typeface="Helvetica" pitchFamily="34" charset="0"/>
                <a:ea typeface="Helvetica" pitchFamily="34" charset="-122"/>
                <a:cs typeface="Helvetica" pitchFamily="34" charset="-120"/>
              </a:rPr>
              <a:t>%</a:t>
            </a:r>
            <a:endParaRPr lang="en-US" sz="6000" dirty="0"/>
          </a:p>
        </p:txBody>
      </p:sp>
      <p:sp>
        <p:nvSpPr>
          <p:cNvPr id="10" name="Text 8"/>
          <p:cNvSpPr/>
          <p:nvPr/>
        </p:nvSpPr>
        <p:spPr>
          <a:xfrm>
            <a:off x="9448800" y="6196572"/>
            <a:ext cx="4419436" cy="747712"/>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2025" dirty="0">
                <a:solidFill>
                  <a:srgbClr val="15140F"/>
                </a:solidFill>
                <a:latin typeface="Helvetica" pitchFamily="34" charset="0"/>
                <a:ea typeface="Helvetica" pitchFamily="34" charset="-122"/>
                <a:cs typeface="Helvetica" pitchFamily="34" charset="-120"/>
              </a:rPr>
              <a:t>Sustav otkazuje u približno svakom četvrtom razdoblju.</a:t>
            </a:r>
            <a:endParaRPr lang="en-US" sz="2025" dirty="0"/>
          </a:p>
        </p:txBody>
      </p:sp>
      <p:sp>
        <p:nvSpPr>
          <p:cNvPr id="11" name="Shape 9"/>
          <p:cNvSpPr/>
          <p:nvPr/>
        </p:nvSpPr>
        <p:spPr>
          <a:xfrm>
            <a:off x="1047750" y="9401175"/>
            <a:ext cx="16192500" cy="9525"/>
          </a:xfrm>
          <a:prstGeom prst="rect">
            <a:avLst/>
          </a:prstGeom>
          <a:solidFill>
            <a:srgbClr val="E4E2DA"/>
          </a:solidFill>
          <a:ln/>
        </p:spPr>
        <p:txBody>
          <a:bodyPr/>
          <a:lstStyle/>
          <a:p>
            <a:endParaRPr lang="en-GB"/>
          </a:p>
        </p:txBody>
      </p:sp>
      <p:sp>
        <p:nvSpPr>
          <p:cNvPr id="12" name="Text 10"/>
          <p:cNvSpPr/>
          <p:nvPr/>
        </p:nvSpPr>
        <p:spPr>
          <a:xfrm>
            <a:off x="1047750" y="9582150"/>
            <a:ext cx="353713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SCENARIJI OTKAZIVANJA</a:t>
            </a:r>
            <a:endParaRPr lang="en-US" sz="1800" dirty="0"/>
          </a:p>
        </p:txBody>
      </p:sp>
      <p:sp>
        <p:nvSpPr>
          <p:cNvPr id="13" name="Text 11"/>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514600"/>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UTJELOVLJENA UMJETNA INTELIGENCIJA · 01</a:t>
            </a:r>
            <a:endParaRPr lang="en-US" sz="1800" dirty="0"/>
          </a:p>
        </p:txBody>
      </p:sp>
      <p:sp>
        <p:nvSpPr>
          <p:cNvPr id="3" name="Text 1"/>
          <p:cNvSpPr/>
          <p:nvPr/>
        </p:nvSpPr>
        <p:spPr>
          <a:xfrm>
            <a:off x="1047750" y="3162300"/>
            <a:ext cx="7104056" cy="129004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Robot više ne izvršava naredbe — on ih tumači.</a:t>
            </a:r>
            <a:endParaRPr lang="en-US" sz="4650" dirty="0"/>
          </a:p>
        </p:txBody>
      </p:sp>
      <p:sp>
        <p:nvSpPr>
          <p:cNvPr id="4" name="Shape 2"/>
          <p:cNvSpPr/>
          <p:nvPr/>
        </p:nvSpPr>
        <p:spPr>
          <a:xfrm>
            <a:off x="1047750" y="4966806"/>
            <a:ext cx="2692256" cy="552450"/>
          </a:xfrm>
          <a:prstGeom prst="rect">
            <a:avLst/>
          </a:prstGeom>
          <a:solidFill>
            <a:srgbClr val="F5C518"/>
          </a:solidFill>
          <a:ln w="9525">
            <a:solidFill>
              <a:srgbClr val="15140F"/>
            </a:solidFill>
            <a:prstDash val="solid"/>
          </a:ln>
        </p:spPr>
        <p:txBody>
          <a:bodyPr/>
          <a:lstStyle/>
          <a:p>
            <a:endParaRPr lang="en-GB"/>
          </a:p>
        </p:txBody>
      </p:sp>
      <p:sp>
        <p:nvSpPr>
          <p:cNvPr id="5" name="Text 3"/>
          <p:cNvSpPr/>
          <p:nvPr/>
        </p:nvSpPr>
        <p:spPr>
          <a:xfrm>
            <a:off x="1266825" y="5109681"/>
            <a:ext cx="2167235" cy="304800"/>
          </a:xfrm>
          <a:prstGeom prst="rect">
            <a:avLst/>
          </a:prstGeom>
          <a:noFill/>
          <a:ln/>
        </p:spPr>
        <p:txBody>
          <a:bodyPr wrap="none" lIns="25400" tIns="25400" rIns="25400" bIns="25400" rtlCol="0" anchor="t">
            <a:normAutofit lnSpcReduction="10000"/>
          </a:bodyPr>
          <a:lstStyle/>
          <a:p>
            <a:pPr marL="0" indent="0" algn="l">
              <a:buNone/>
            </a:pPr>
            <a:r>
              <a:rPr lang="en-US" sz="1800" kern="0" spc="108" dirty="0">
                <a:solidFill>
                  <a:srgbClr val="15140F"/>
                </a:solidFill>
                <a:latin typeface="Courier New" pitchFamily="34" charset="0"/>
                <a:ea typeface="Courier New" pitchFamily="34" charset="-122"/>
                <a:cs typeface="Courier New" pitchFamily="34" charset="-120"/>
              </a:rPr>
              <a:t>„Pospremi stol”</a:t>
            </a:r>
            <a:endParaRPr lang="en-US" sz="1800" dirty="0"/>
          </a:p>
        </p:txBody>
      </p:sp>
      <p:sp>
        <p:nvSpPr>
          <p:cNvPr id="6" name="Text 4"/>
          <p:cNvSpPr/>
          <p:nvPr/>
        </p:nvSpPr>
        <p:spPr>
          <a:xfrm>
            <a:off x="3786485" y="5057293"/>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7" name="Shape 5"/>
          <p:cNvSpPr/>
          <p:nvPr/>
        </p:nvSpPr>
        <p:spPr>
          <a:xfrm>
            <a:off x="4319884" y="5033481"/>
            <a:ext cx="3004541" cy="419100"/>
          </a:xfrm>
          <a:prstGeom prst="rect">
            <a:avLst/>
          </a:prstGeom>
          <a:ln w="9525">
            <a:solidFill>
              <a:srgbClr val="1A1813"/>
            </a:solidFill>
            <a:prstDash val="solid"/>
          </a:ln>
        </p:spPr>
        <p:txBody>
          <a:bodyPr/>
          <a:lstStyle/>
          <a:p>
            <a:endParaRPr lang="en-GB"/>
          </a:p>
        </p:txBody>
      </p:sp>
      <p:sp>
        <p:nvSpPr>
          <p:cNvPr id="8" name="Text 6"/>
          <p:cNvSpPr/>
          <p:nvPr/>
        </p:nvSpPr>
        <p:spPr>
          <a:xfrm>
            <a:off x="4462760" y="5109681"/>
            <a:ext cx="2593092" cy="304800"/>
          </a:xfrm>
          <a:prstGeom prst="rect">
            <a:avLst/>
          </a:prstGeom>
          <a:noFill/>
          <a:ln/>
        </p:spPr>
        <p:txBody>
          <a:bodyPr wrap="none" lIns="25400" tIns="25400" rIns="25400" bIns="25400" rtlCol="0" anchor="t">
            <a:normAutofit lnSpcReduction="10000"/>
          </a:bodyPr>
          <a:lstStyle/>
          <a:p>
            <a:pPr marL="0" indent="0" algn="l">
              <a:buNone/>
            </a:pPr>
            <a:r>
              <a:rPr lang="en-US" sz="1800" kern="0" spc="108" dirty="0">
                <a:solidFill>
                  <a:srgbClr val="15140F"/>
                </a:solidFill>
                <a:latin typeface="Courier New" pitchFamily="34" charset="0"/>
                <a:ea typeface="Courier New" pitchFamily="34" charset="-122"/>
                <a:cs typeface="Courier New" pitchFamily="34" charset="-120"/>
              </a:rPr>
              <a:t>Prepoznaj predmete</a:t>
            </a:r>
            <a:endParaRPr lang="en-US" sz="1800" dirty="0"/>
          </a:p>
        </p:txBody>
      </p:sp>
      <p:sp>
        <p:nvSpPr>
          <p:cNvPr id="9" name="Text 7"/>
          <p:cNvSpPr/>
          <p:nvPr/>
        </p:nvSpPr>
        <p:spPr>
          <a:xfrm>
            <a:off x="7324427" y="5095393"/>
            <a:ext cx="28003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9A968B"/>
                </a:solidFill>
                <a:latin typeface="Helvetica" pitchFamily="34" charset="0"/>
                <a:ea typeface="Helvetica" pitchFamily="34" charset="-122"/>
                <a:cs typeface="Helvetica" pitchFamily="34" charset="-120"/>
              </a:rPr>
              <a:t>→</a:t>
            </a:r>
            <a:endParaRPr lang="en-US" sz="1950" dirty="0"/>
          </a:p>
        </p:txBody>
      </p:sp>
      <p:sp>
        <p:nvSpPr>
          <p:cNvPr id="10" name="Shape 8"/>
          <p:cNvSpPr/>
          <p:nvPr/>
        </p:nvSpPr>
        <p:spPr>
          <a:xfrm>
            <a:off x="7781627" y="5033481"/>
            <a:ext cx="3422749" cy="419100"/>
          </a:xfrm>
          <a:prstGeom prst="rect">
            <a:avLst/>
          </a:prstGeom>
          <a:ln w="9525">
            <a:solidFill>
              <a:srgbClr val="1A1813"/>
            </a:solidFill>
            <a:prstDash val="solid"/>
          </a:ln>
        </p:spPr>
        <p:txBody>
          <a:bodyPr/>
          <a:lstStyle/>
          <a:p>
            <a:endParaRPr lang="en-GB"/>
          </a:p>
        </p:txBody>
      </p:sp>
      <p:sp>
        <p:nvSpPr>
          <p:cNvPr id="11" name="Text 9"/>
          <p:cNvSpPr/>
          <p:nvPr/>
        </p:nvSpPr>
        <p:spPr>
          <a:xfrm>
            <a:off x="7924502" y="5109681"/>
            <a:ext cx="3023845" cy="304800"/>
          </a:xfrm>
          <a:prstGeom prst="rect">
            <a:avLst/>
          </a:prstGeom>
          <a:noFill/>
          <a:ln/>
        </p:spPr>
        <p:txBody>
          <a:bodyPr wrap="none" lIns="25400" tIns="25400" rIns="25400" bIns="25400" rtlCol="0" anchor="t">
            <a:normAutofit lnSpcReduction="10000"/>
          </a:bodyPr>
          <a:lstStyle/>
          <a:p>
            <a:pPr marL="0" indent="0" algn="l">
              <a:buNone/>
            </a:pPr>
            <a:r>
              <a:rPr lang="en-US" sz="1800" kern="0" spc="108" dirty="0">
                <a:solidFill>
                  <a:srgbClr val="15140F"/>
                </a:solidFill>
                <a:latin typeface="Courier New" pitchFamily="34" charset="0"/>
                <a:ea typeface="Courier New" pitchFamily="34" charset="-122"/>
                <a:cs typeface="Courier New" pitchFamily="34" charset="-120"/>
              </a:rPr>
              <a:t>Planiraj putanju ruke</a:t>
            </a:r>
            <a:endParaRPr lang="en-US" sz="1800" dirty="0"/>
          </a:p>
        </p:txBody>
      </p:sp>
      <p:sp>
        <p:nvSpPr>
          <p:cNvPr id="12" name="Text 10"/>
          <p:cNvSpPr/>
          <p:nvPr/>
        </p:nvSpPr>
        <p:spPr>
          <a:xfrm>
            <a:off x="11204377" y="5095393"/>
            <a:ext cx="28003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9A968B"/>
                </a:solidFill>
                <a:latin typeface="Helvetica" pitchFamily="34" charset="0"/>
                <a:ea typeface="Helvetica" pitchFamily="34" charset="-122"/>
                <a:cs typeface="Helvetica" pitchFamily="34" charset="-120"/>
              </a:rPr>
              <a:t>→</a:t>
            </a:r>
            <a:endParaRPr lang="en-US" sz="1950" dirty="0"/>
          </a:p>
        </p:txBody>
      </p:sp>
      <p:sp>
        <p:nvSpPr>
          <p:cNvPr id="13" name="Shape 11"/>
          <p:cNvSpPr/>
          <p:nvPr/>
        </p:nvSpPr>
        <p:spPr>
          <a:xfrm>
            <a:off x="11661577" y="5033481"/>
            <a:ext cx="982861" cy="419100"/>
          </a:xfrm>
          <a:prstGeom prst="rect">
            <a:avLst/>
          </a:prstGeom>
          <a:ln w="9525">
            <a:solidFill>
              <a:srgbClr val="1A1813"/>
            </a:solidFill>
            <a:prstDash val="solid"/>
          </a:ln>
        </p:spPr>
        <p:txBody>
          <a:bodyPr/>
          <a:lstStyle/>
          <a:p>
            <a:endParaRPr lang="en-GB"/>
          </a:p>
        </p:txBody>
      </p:sp>
      <p:sp>
        <p:nvSpPr>
          <p:cNvPr id="14" name="Text 12"/>
          <p:cNvSpPr/>
          <p:nvPr/>
        </p:nvSpPr>
        <p:spPr>
          <a:xfrm>
            <a:off x="11804452" y="5109681"/>
            <a:ext cx="839986" cy="304800"/>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15140F"/>
                </a:solidFill>
                <a:latin typeface="Courier New" pitchFamily="34" charset="0"/>
                <a:ea typeface="Courier New" pitchFamily="34" charset="-122"/>
                <a:cs typeface="Courier New" pitchFamily="34" charset="-120"/>
              </a:rPr>
              <a:t>Primi</a:t>
            </a:r>
            <a:endParaRPr lang="en-US" sz="1800" dirty="0"/>
          </a:p>
        </p:txBody>
      </p:sp>
      <p:sp>
        <p:nvSpPr>
          <p:cNvPr id="15" name="Text 13"/>
          <p:cNvSpPr/>
          <p:nvPr/>
        </p:nvSpPr>
        <p:spPr>
          <a:xfrm>
            <a:off x="12853988" y="5095393"/>
            <a:ext cx="28003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9A968B"/>
                </a:solidFill>
                <a:latin typeface="Helvetica" pitchFamily="34" charset="0"/>
                <a:ea typeface="Helvetica" pitchFamily="34" charset="-122"/>
                <a:cs typeface="Helvetica" pitchFamily="34" charset="-120"/>
              </a:rPr>
              <a:t>→</a:t>
            </a:r>
            <a:endParaRPr lang="en-US" sz="1950" dirty="0"/>
          </a:p>
        </p:txBody>
      </p:sp>
      <p:sp>
        <p:nvSpPr>
          <p:cNvPr id="16" name="Shape 14"/>
          <p:cNvSpPr/>
          <p:nvPr/>
        </p:nvSpPr>
        <p:spPr>
          <a:xfrm>
            <a:off x="13311188" y="5033481"/>
            <a:ext cx="1122164" cy="419100"/>
          </a:xfrm>
          <a:prstGeom prst="rect">
            <a:avLst/>
          </a:prstGeom>
          <a:ln w="9525">
            <a:solidFill>
              <a:srgbClr val="1A1813"/>
            </a:solidFill>
            <a:prstDash val="solid"/>
          </a:ln>
        </p:spPr>
        <p:txBody>
          <a:bodyPr/>
          <a:lstStyle/>
          <a:p>
            <a:endParaRPr lang="en-GB"/>
          </a:p>
        </p:txBody>
      </p:sp>
      <p:sp>
        <p:nvSpPr>
          <p:cNvPr id="17" name="Text 15"/>
          <p:cNvSpPr/>
          <p:nvPr/>
        </p:nvSpPr>
        <p:spPr>
          <a:xfrm>
            <a:off x="13454062" y="5109681"/>
            <a:ext cx="979289" cy="304800"/>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15140F"/>
                </a:solidFill>
                <a:latin typeface="Courier New" pitchFamily="34" charset="0"/>
                <a:ea typeface="Courier New" pitchFamily="34" charset="-122"/>
                <a:cs typeface="Courier New" pitchFamily="34" charset="-120"/>
              </a:rPr>
              <a:t>Odloži</a:t>
            </a:r>
            <a:endParaRPr lang="en-US" sz="1800" dirty="0"/>
          </a:p>
        </p:txBody>
      </p:sp>
      <p:sp>
        <p:nvSpPr>
          <p:cNvPr id="18" name="Text 16"/>
          <p:cNvSpPr/>
          <p:nvPr/>
        </p:nvSpPr>
        <p:spPr>
          <a:xfrm>
            <a:off x="1047750" y="6186006"/>
            <a:ext cx="9166460" cy="1624608"/>
          </a:xfrm>
          <a:prstGeom prst="rect">
            <a:avLst/>
          </a:prstGeom>
          <a:noFill/>
          <a:ln/>
        </p:spPr>
        <p:txBody>
          <a:bodyPr wrap="square" lIns="25400" tIns="25400" rIns="25400" bIns="25400" rtlCol="0" anchor="t">
            <a:normAutofit fontScale="92500"/>
          </a:bodyPr>
          <a:lstStyle/>
          <a:p>
            <a:pPr marL="0" indent="0" algn="l">
              <a:lnSpc>
                <a:spcPct val="138000"/>
              </a:lnSpc>
              <a:buNone/>
            </a:pPr>
            <a:r>
              <a:rPr lang="en-US" sz="2250" dirty="0">
                <a:solidFill>
                  <a:srgbClr val="15140F"/>
                </a:solidFill>
                <a:latin typeface="Helvetica" pitchFamily="34" charset="0"/>
                <a:ea typeface="Helvetica" pitchFamily="34" charset="-122"/>
                <a:cs typeface="Helvetica" pitchFamily="34" charset="-120"/>
              </a:rPr>
              <a:t>Veliki jezični i vizualni modeli (</a:t>
            </a:r>
            <a:r>
              <a:rPr lang="en-US" sz="2250" dirty="0">
                <a:solidFill>
                  <a:srgbClr val="15140F"/>
                </a:solidFill>
                <a:latin typeface="Courier New" pitchFamily="34" charset="0"/>
                <a:ea typeface="Courier New" pitchFamily="34" charset="-122"/>
                <a:cs typeface="Courier New" pitchFamily="34" charset="-120"/>
              </a:rPr>
              <a:t>LLM / VLM </a:t>
            </a:r>
            <a:r>
              <a:rPr lang="en-US" sz="2250" dirty="0">
                <a:solidFill>
                  <a:srgbClr val="15140F"/>
                </a:solidFill>
                <a:latin typeface="Helvetica" pitchFamily="34" charset="0"/>
                <a:ea typeface="Helvetica" pitchFamily="34" charset="-122"/>
                <a:cs typeface="Helvetica" pitchFamily="34" charset="-120"/>
              </a:rPr>
              <a:t>) raščlanjuju apstraktan cilj u motoričke korake. Generalizacija na neviđene zadatke je velika prednost — ali otvara </a:t>
            </a:r>
            <a:r>
              <a:rPr lang="en-US" sz="2250" dirty="0">
                <a:solidFill>
                  <a:srgbClr val="15140F"/>
                </a:solidFill>
                <a:highlight>
                  <a:srgbClr val="F5C518"/>
                </a:highlight>
                <a:latin typeface="Helvetica" pitchFamily="34" charset="0"/>
                <a:ea typeface="Helvetica" pitchFamily="34" charset="-122"/>
                <a:cs typeface="Helvetica" pitchFamily="34" charset="-120"/>
              </a:rPr>
              <a:t>sigurnosna pitanja kakvih u determinističkoj robotici nije bilo </a:t>
            </a:r>
            <a:r>
              <a:rPr lang="en-US" sz="2250" dirty="0">
                <a:solidFill>
                  <a:srgbClr val="15140F"/>
                </a:solidFill>
                <a:latin typeface="Helvetica" pitchFamily="34" charset="0"/>
                <a:ea typeface="Helvetica" pitchFamily="34" charset="-122"/>
                <a:cs typeface="Helvetica" pitchFamily="34" charset="-120"/>
              </a:rPr>
              <a:t>.</a:t>
            </a:r>
            <a:endParaRPr lang="en-US" sz="2250" dirty="0"/>
          </a:p>
        </p:txBody>
      </p:sp>
      <p:sp>
        <p:nvSpPr>
          <p:cNvPr id="19" name="Shape 17"/>
          <p:cNvSpPr/>
          <p:nvPr/>
        </p:nvSpPr>
        <p:spPr>
          <a:xfrm>
            <a:off x="1047750" y="9401175"/>
            <a:ext cx="16192500" cy="9525"/>
          </a:xfrm>
          <a:prstGeom prst="rect">
            <a:avLst/>
          </a:prstGeom>
          <a:solidFill>
            <a:srgbClr val="E4E2DA"/>
          </a:solidFill>
          <a:ln/>
        </p:spPr>
        <p:txBody>
          <a:bodyPr/>
          <a:lstStyle/>
          <a:p>
            <a:endParaRPr lang="en-GB"/>
          </a:p>
        </p:txBody>
      </p:sp>
      <p:sp>
        <p:nvSpPr>
          <p:cNvPr id="20" name="Text 18"/>
          <p:cNvSpPr/>
          <p:nvPr/>
        </p:nvSpPr>
        <p:spPr>
          <a:xfrm>
            <a:off x="1047750" y="9582150"/>
            <a:ext cx="57266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UTJELOVLJENA UMJETNA INTELIGENCIJA</a:t>
            </a:r>
            <a:endParaRPr lang="en-US" sz="1800" dirty="0"/>
          </a:p>
        </p:txBody>
      </p:sp>
      <p:sp>
        <p:nvSpPr>
          <p:cNvPr id="21" name="Text 19"/>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007989"/>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UTJELOVLJENA UMJETNA INTELIGENCIJA · 02</a:t>
            </a:r>
            <a:endParaRPr lang="en-US" sz="1800" dirty="0"/>
          </a:p>
        </p:txBody>
      </p:sp>
      <p:sp>
        <p:nvSpPr>
          <p:cNvPr id="3" name="Text 1"/>
          <p:cNvSpPr/>
          <p:nvPr/>
        </p:nvSpPr>
        <p:spPr>
          <a:xfrm>
            <a:off x="1047750" y="2655689"/>
            <a:ext cx="7104056" cy="129004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Model „razmišlja” sporije nego što fizika dopušta.</a:t>
            </a:r>
            <a:endParaRPr lang="en-US" sz="4650" dirty="0"/>
          </a:p>
        </p:txBody>
      </p:sp>
      <p:sp>
        <p:nvSpPr>
          <p:cNvPr id="4" name="Shape 2"/>
          <p:cNvSpPr/>
          <p:nvPr/>
        </p:nvSpPr>
        <p:spPr>
          <a:xfrm>
            <a:off x="1047750" y="4384024"/>
            <a:ext cx="7867650" cy="2221111"/>
          </a:xfrm>
          <a:prstGeom prst="rect">
            <a:avLst/>
          </a:prstGeom>
          <a:solidFill>
            <a:srgbClr val="FFFFFF"/>
          </a:solidFill>
          <a:ln w="9525">
            <a:solidFill>
              <a:srgbClr val="E4E2DA"/>
            </a:solidFill>
            <a:prstDash val="solid"/>
          </a:ln>
        </p:spPr>
        <p:txBody>
          <a:bodyPr/>
          <a:lstStyle/>
          <a:p>
            <a:endParaRPr lang="en-GB"/>
          </a:p>
        </p:txBody>
      </p:sp>
      <p:sp>
        <p:nvSpPr>
          <p:cNvPr id="5" name="Text 3"/>
          <p:cNvSpPr/>
          <p:nvPr/>
        </p:nvSpPr>
        <p:spPr>
          <a:xfrm>
            <a:off x="1362075" y="4679299"/>
            <a:ext cx="7962900" cy="3580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6E6B62"/>
                </a:solidFill>
                <a:latin typeface="Courier New" pitchFamily="34" charset="0"/>
                <a:ea typeface="Courier New" pitchFamily="34" charset="-122"/>
                <a:cs typeface="Courier New" pitchFamily="34" charset="-120"/>
              </a:rPr>
              <a:t>INFERENCIJA LLM-a</a:t>
            </a:r>
            <a:endParaRPr lang="en-US" sz="1800" dirty="0"/>
          </a:p>
        </p:txBody>
      </p:sp>
      <p:sp>
        <p:nvSpPr>
          <p:cNvPr id="6" name="Text 4"/>
          <p:cNvSpPr/>
          <p:nvPr/>
        </p:nvSpPr>
        <p:spPr>
          <a:xfrm>
            <a:off x="1362075" y="5075480"/>
            <a:ext cx="3589526"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15140F"/>
                </a:solidFill>
                <a:latin typeface="Helvetica" pitchFamily="34" charset="0"/>
                <a:ea typeface="Helvetica" pitchFamily="34" charset="-122"/>
                <a:cs typeface="Helvetica" pitchFamily="34" charset="-120"/>
              </a:rPr>
              <a:t>100–500</a:t>
            </a:r>
            <a:endParaRPr lang="en-US" sz="6600" dirty="0"/>
          </a:p>
        </p:txBody>
      </p:sp>
      <p:sp>
        <p:nvSpPr>
          <p:cNvPr id="7" name="Text 5"/>
          <p:cNvSpPr/>
          <p:nvPr/>
        </p:nvSpPr>
        <p:spPr>
          <a:xfrm>
            <a:off x="4720530" y="5551730"/>
            <a:ext cx="545396"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5140F"/>
                </a:solidFill>
                <a:latin typeface="Courier New" pitchFamily="34" charset="0"/>
                <a:ea typeface="Courier New" pitchFamily="34" charset="-122"/>
                <a:cs typeface="Courier New" pitchFamily="34" charset="-120"/>
              </a:rPr>
              <a:t>ms</a:t>
            </a:r>
            <a:endParaRPr lang="en-US" sz="1950" dirty="0"/>
          </a:p>
        </p:txBody>
      </p:sp>
      <p:sp>
        <p:nvSpPr>
          <p:cNvPr id="8" name="Text 6"/>
          <p:cNvSpPr/>
          <p:nvPr/>
        </p:nvSpPr>
        <p:spPr>
          <a:xfrm>
            <a:off x="1362075" y="5989880"/>
            <a:ext cx="796290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Brzina „razmišljanja”</a:t>
            </a:r>
            <a:endParaRPr lang="en-US" sz="1800" dirty="0"/>
          </a:p>
        </p:txBody>
      </p:sp>
      <p:sp>
        <p:nvSpPr>
          <p:cNvPr id="9" name="Shape 7"/>
          <p:cNvSpPr/>
          <p:nvPr/>
        </p:nvSpPr>
        <p:spPr>
          <a:xfrm>
            <a:off x="9372600" y="4384024"/>
            <a:ext cx="7867650" cy="2221111"/>
          </a:xfrm>
          <a:prstGeom prst="rect">
            <a:avLst/>
          </a:prstGeom>
          <a:solidFill>
            <a:srgbClr val="F5C518"/>
          </a:solidFill>
          <a:ln w="9525">
            <a:solidFill>
              <a:srgbClr val="15140F"/>
            </a:solidFill>
            <a:prstDash val="solid"/>
          </a:ln>
        </p:spPr>
        <p:txBody>
          <a:bodyPr/>
          <a:lstStyle/>
          <a:p>
            <a:endParaRPr lang="en-GB"/>
          </a:p>
        </p:txBody>
      </p:sp>
      <p:sp>
        <p:nvSpPr>
          <p:cNvPr id="10" name="Text 8"/>
          <p:cNvSpPr/>
          <p:nvPr/>
        </p:nvSpPr>
        <p:spPr>
          <a:xfrm>
            <a:off x="9686925" y="4679299"/>
            <a:ext cx="7962900" cy="3580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5A4D00"/>
                </a:solidFill>
                <a:latin typeface="Courier New" pitchFamily="34" charset="0"/>
                <a:ea typeface="Courier New" pitchFamily="34" charset="-122"/>
                <a:cs typeface="Courier New" pitchFamily="34" charset="-120"/>
              </a:rPr>
              <a:t>REFLEKS RAVNOTEŽE</a:t>
            </a:r>
            <a:endParaRPr lang="en-US" sz="1800" dirty="0"/>
          </a:p>
        </p:txBody>
      </p:sp>
      <p:sp>
        <p:nvSpPr>
          <p:cNvPr id="11" name="Text 9"/>
          <p:cNvSpPr/>
          <p:nvPr/>
        </p:nvSpPr>
        <p:spPr>
          <a:xfrm>
            <a:off x="9686925" y="5075480"/>
            <a:ext cx="1538392"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15140F"/>
                </a:solidFill>
                <a:latin typeface="Helvetica" pitchFamily="34" charset="0"/>
                <a:ea typeface="Helvetica" pitchFamily="34" charset="-122"/>
                <a:cs typeface="Helvetica" pitchFamily="34" charset="-120"/>
              </a:rPr>
              <a:t>1–5</a:t>
            </a:r>
            <a:endParaRPr lang="en-US" sz="6600" dirty="0"/>
          </a:p>
        </p:txBody>
      </p:sp>
      <p:sp>
        <p:nvSpPr>
          <p:cNvPr id="12" name="Text 10"/>
          <p:cNvSpPr/>
          <p:nvPr/>
        </p:nvSpPr>
        <p:spPr>
          <a:xfrm>
            <a:off x="11180713" y="5551730"/>
            <a:ext cx="625805"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5140F"/>
                </a:solidFill>
                <a:latin typeface="Courier New" pitchFamily="34" charset="0"/>
                <a:ea typeface="Courier New" pitchFamily="34" charset="-122"/>
                <a:cs typeface="Courier New" pitchFamily="34" charset="-120"/>
              </a:rPr>
              <a:t>ms</a:t>
            </a:r>
            <a:endParaRPr lang="en-US" sz="1950" dirty="0"/>
          </a:p>
        </p:txBody>
      </p:sp>
      <p:sp>
        <p:nvSpPr>
          <p:cNvPr id="13" name="Text 11"/>
          <p:cNvSpPr/>
          <p:nvPr/>
        </p:nvSpPr>
        <p:spPr>
          <a:xfrm>
            <a:off x="9686925" y="5989880"/>
            <a:ext cx="796290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4D00"/>
                </a:solidFill>
                <a:latin typeface="Helvetica" pitchFamily="34" charset="0"/>
                <a:ea typeface="Helvetica" pitchFamily="34" charset="-122"/>
                <a:cs typeface="Helvetica" pitchFamily="34" charset="-120"/>
              </a:rPr>
              <a:t>Brzina koju fizika zahtijeva</a:t>
            </a:r>
            <a:endParaRPr lang="en-US" sz="1800" dirty="0"/>
          </a:p>
        </p:txBody>
      </p:sp>
      <p:sp>
        <p:nvSpPr>
          <p:cNvPr id="14" name="Text 12"/>
          <p:cNvSpPr/>
          <p:nvPr/>
        </p:nvSpPr>
        <p:spPr>
          <a:xfrm>
            <a:off x="1047750" y="7214735"/>
            <a:ext cx="8544397" cy="1102519"/>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2025" dirty="0">
                <a:solidFill>
                  <a:srgbClr val="15140F"/>
                </a:solidFill>
                <a:latin typeface="Helvetica" pitchFamily="34" charset="0"/>
                <a:ea typeface="Helvetica" pitchFamily="34" charset="-122"/>
                <a:cs typeface="Helvetica" pitchFamily="34" charset="-120"/>
              </a:rPr>
              <a:t>Raskorak od </a:t>
            </a:r>
            <a:r>
              <a:rPr lang="en-US" sz="2025" dirty="0">
                <a:solidFill>
                  <a:srgbClr val="15140F"/>
                </a:solidFill>
                <a:highlight>
                  <a:srgbClr val="F5C518"/>
                </a:highlight>
                <a:latin typeface="Helvetica" pitchFamily="34" charset="0"/>
                <a:ea typeface="Helvetica" pitchFamily="34" charset="-122"/>
                <a:cs typeface="Helvetica" pitchFamily="34" charset="-120"/>
              </a:rPr>
              <a:t>2–3 reda veličine </a:t>
            </a:r>
            <a:r>
              <a:rPr lang="en-US" sz="2025" dirty="0">
                <a:solidFill>
                  <a:srgbClr val="15140F"/>
                </a:solidFill>
                <a:latin typeface="Helvetica" pitchFamily="34" charset="0"/>
                <a:ea typeface="Helvetica" pitchFamily="34" charset="-122"/>
                <a:cs typeface="Helvetica" pitchFamily="34" charset="-120"/>
              </a:rPr>
              <a:t>. Uz to, „crna kutija” modela može samouvjereno halucinirati — pa spori model ne smije biti izravno u upravljačkoj petlji.</a:t>
            </a:r>
            <a:endParaRPr lang="en-US" sz="2025" dirty="0"/>
          </a:p>
        </p:txBody>
      </p:sp>
      <p:sp>
        <p:nvSpPr>
          <p:cNvPr id="15" name="Shape 13"/>
          <p:cNvSpPr/>
          <p:nvPr/>
        </p:nvSpPr>
        <p:spPr>
          <a:xfrm>
            <a:off x="1047750" y="9401175"/>
            <a:ext cx="16192500" cy="9525"/>
          </a:xfrm>
          <a:prstGeom prst="rect">
            <a:avLst/>
          </a:prstGeom>
          <a:solidFill>
            <a:srgbClr val="E4E2DA"/>
          </a:solidFill>
          <a:ln/>
        </p:spPr>
        <p:txBody>
          <a:bodyPr/>
          <a:lstStyle/>
          <a:p>
            <a:endParaRPr lang="en-GB"/>
          </a:p>
        </p:txBody>
      </p:sp>
      <p:sp>
        <p:nvSpPr>
          <p:cNvPr id="16" name="Text 14"/>
          <p:cNvSpPr/>
          <p:nvPr/>
        </p:nvSpPr>
        <p:spPr>
          <a:xfrm>
            <a:off x="1047750" y="9582150"/>
            <a:ext cx="57266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UTJELOVLJENA UMJETNA INTELIGENCIJA</a:t>
            </a:r>
            <a:endParaRPr lang="en-US" sz="1800" dirty="0"/>
          </a:p>
        </p:txBody>
      </p:sp>
      <p:sp>
        <p:nvSpPr>
          <p:cNvPr id="17" name="Text 15"/>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009329"/>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UTJELOVLJENA UMJETNA INTELIGENCIJA · 03</a:t>
            </a:r>
            <a:endParaRPr lang="en-US" sz="1800" dirty="0"/>
          </a:p>
        </p:txBody>
      </p:sp>
      <p:sp>
        <p:nvSpPr>
          <p:cNvPr id="3" name="Text 1"/>
          <p:cNvSpPr/>
          <p:nvPr/>
        </p:nvSpPr>
        <p:spPr>
          <a:xfrm>
            <a:off x="1047750" y="2657029"/>
            <a:ext cx="7104056" cy="1916013"/>
          </a:xfrm>
          <a:prstGeom prst="rect">
            <a:avLst/>
          </a:prstGeom>
          <a:noFill/>
          <a:ln/>
        </p:spPr>
        <p:txBody>
          <a:bodyPr wrap="square" lIns="25400" tIns="25400" rIns="25400" bIns="25400" rtlCol="0" anchor="t">
            <a:normAutofit fontScale="925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Inteligencija smije planirati, ali ne i zaobići refleks.</a:t>
            </a:r>
            <a:endParaRPr lang="en-US" sz="4650" dirty="0"/>
          </a:p>
        </p:txBody>
      </p:sp>
      <p:sp>
        <p:nvSpPr>
          <p:cNvPr id="4" name="Shape 2"/>
          <p:cNvSpPr/>
          <p:nvPr/>
        </p:nvSpPr>
        <p:spPr>
          <a:xfrm>
            <a:off x="1047750" y="5049406"/>
            <a:ext cx="5770959" cy="2047280"/>
          </a:xfrm>
          <a:prstGeom prst="rect">
            <a:avLst/>
          </a:prstGeom>
          <a:solidFill>
            <a:srgbClr val="FFFFFF"/>
          </a:solidFill>
          <a:ln w="9525">
            <a:solidFill>
              <a:srgbClr val="1A1813"/>
            </a:solidFill>
            <a:prstDash val="solid"/>
          </a:ln>
        </p:spPr>
        <p:txBody>
          <a:bodyPr/>
          <a:lstStyle/>
          <a:p>
            <a:endParaRPr lang="en-GB"/>
          </a:p>
        </p:txBody>
      </p:sp>
      <p:sp>
        <p:nvSpPr>
          <p:cNvPr id="5" name="Text 3"/>
          <p:cNvSpPr/>
          <p:nvPr/>
        </p:nvSpPr>
        <p:spPr>
          <a:xfrm>
            <a:off x="1285875" y="5268481"/>
            <a:ext cx="5824180"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KOGNITIVNI SLOJ</a:t>
            </a:r>
            <a:endParaRPr lang="en-US" sz="1800" dirty="0"/>
          </a:p>
        </p:txBody>
      </p:sp>
      <p:sp>
        <p:nvSpPr>
          <p:cNvPr id="6" name="Text 4"/>
          <p:cNvSpPr/>
          <p:nvPr/>
        </p:nvSpPr>
        <p:spPr>
          <a:xfrm>
            <a:off x="1285875" y="5611381"/>
            <a:ext cx="5824180"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LLM / VLM · planiranje misije</a:t>
            </a:r>
            <a:endParaRPr lang="en-US" sz="2100" dirty="0"/>
          </a:p>
        </p:txBody>
      </p:sp>
      <p:sp>
        <p:nvSpPr>
          <p:cNvPr id="7" name="Text 5"/>
          <p:cNvSpPr/>
          <p:nvPr/>
        </p:nvSpPr>
        <p:spPr>
          <a:xfrm>
            <a:off x="1285875" y="5986279"/>
            <a:ext cx="582418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Spor, semantički, neobjašnjiv</a:t>
            </a:r>
            <a:endParaRPr lang="en-US" sz="1800" dirty="0"/>
          </a:p>
        </p:txBody>
      </p:sp>
      <p:sp>
        <p:nvSpPr>
          <p:cNvPr id="8" name="Text 6"/>
          <p:cNvSpPr/>
          <p:nvPr/>
        </p:nvSpPr>
        <p:spPr>
          <a:xfrm>
            <a:off x="6990159" y="5887308"/>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9" name="Shape 7"/>
          <p:cNvSpPr/>
          <p:nvPr/>
        </p:nvSpPr>
        <p:spPr>
          <a:xfrm>
            <a:off x="7485459" y="5049406"/>
            <a:ext cx="5289500" cy="2047280"/>
          </a:xfrm>
          <a:prstGeom prst="rect">
            <a:avLst/>
          </a:prstGeom>
          <a:solidFill>
            <a:srgbClr val="FFFFFF"/>
          </a:solidFill>
          <a:ln w="9525">
            <a:solidFill>
              <a:srgbClr val="1A1813"/>
            </a:solidFill>
            <a:prstDash val="dash"/>
          </a:ln>
        </p:spPr>
        <p:txBody>
          <a:bodyPr/>
          <a:lstStyle/>
          <a:p>
            <a:endParaRPr lang="en-GB"/>
          </a:p>
        </p:txBody>
      </p:sp>
      <p:sp>
        <p:nvSpPr>
          <p:cNvPr id="10" name="Text 8"/>
          <p:cNvSpPr/>
          <p:nvPr/>
        </p:nvSpPr>
        <p:spPr>
          <a:xfrm>
            <a:off x="7723584" y="5268481"/>
            <a:ext cx="5294575"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SIGURNOSNI NADZOR</a:t>
            </a:r>
            <a:endParaRPr lang="en-US" sz="1800" dirty="0"/>
          </a:p>
        </p:txBody>
      </p:sp>
      <p:sp>
        <p:nvSpPr>
          <p:cNvPr id="11" name="Text 9"/>
          <p:cNvSpPr/>
          <p:nvPr/>
        </p:nvSpPr>
        <p:spPr>
          <a:xfrm>
            <a:off x="7723584" y="5611381"/>
            <a:ext cx="5294575"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Simplex / CBF</a:t>
            </a:r>
            <a:endParaRPr lang="en-US" sz="2100" dirty="0"/>
          </a:p>
        </p:txBody>
      </p:sp>
      <p:sp>
        <p:nvSpPr>
          <p:cNvPr id="12" name="Text 10"/>
          <p:cNvSpPr/>
          <p:nvPr/>
        </p:nvSpPr>
        <p:spPr>
          <a:xfrm>
            <a:off x="7723584" y="5986279"/>
            <a:ext cx="52945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Je li akcija u sigurnom skupu?</a:t>
            </a:r>
            <a:endParaRPr lang="en-US" sz="1800" dirty="0"/>
          </a:p>
        </p:txBody>
      </p:sp>
      <p:sp>
        <p:nvSpPr>
          <p:cNvPr id="13" name="Shape 11"/>
          <p:cNvSpPr/>
          <p:nvPr/>
        </p:nvSpPr>
        <p:spPr>
          <a:xfrm>
            <a:off x="12908310" y="5049406"/>
            <a:ext cx="4331940" cy="976015"/>
          </a:xfrm>
          <a:prstGeom prst="rect">
            <a:avLst/>
          </a:prstGeom>
          <a:solidFill>
            <a:srgbClr val="F5C518"/>
          </a:solidFill>
          <a:ln w="9525">
            <a:solidFill>
              <a:srgbClr val="15140F"/>
            </a:solidFill>
            <a:prstDash val="solid"/>
          </a:ln>
        </p:spPr>
        <p:txBody>
          <a:bodyPr/>
          <a:lstStyle/>
          <a:p>
            <a:endParaRPr lang="en-GB"/>
          </a:p>
        </p:txBody>
      </p:sp>
      <p:sp>
        <p:nvSpPr>
          <p:cNvPr id="14" name="Text 12"/>
          <p:cNvSpPr/>
          <p:nvPr/>
        </p:nvSpPr>
        <p:spPr>
          <a:xfrm>
            <a:off x="13108335" y="5211331"/>
            <a:ext cx="4325079" cy="294084"/>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800" b="1" dirty="0">
                <a:solidFill>
                  <a:srgbClr val="15140F"/>
                </a:solidFill>
                <a:latin typeface="Helvetica" pitchFamily="34" charset="0"/>
                <a:ea typeface="Helvetica" pitchFamily="34" charset="-122"/>
                <a:cs typeface="Helvetica" pitchFamily="34" charset="-120"/>
              </a:rPr>
              <a:t>Refleksni sloj (WBC)</a:t>
            </a:r>
            <a:endParaRPr lang="en-US" sz="1800" dirty="0"/>
          </a:p>
        </p:txBody>
      </p:sp>
      <p:sp>
        <p:nvSpPr>
          <p:cNvPr id="15" name="Text 13"/>
          <p:cNvSpPr/>
          <p:nvPr/>
        </p:nvSpPr>
        <p:spPr>
          <a:xfrm>
            <a:off x="13108335" y="5543515"/>
            <a:ext cx="432507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4D00"/>
                </a:solidFill>
                <a:latin typeface="Helvetica" pitchFamily="34" charset="0"/>
                <a:ea typeface="Helvetica" pitchFamily="34" charset="-122"/>
                <a:cs typeface="Helvetica" pitchFamily="34" charset="-120"/>
              </a:rPr>
              <a:t>Deterministički → motori</a:t>
            </a:r>
            <a:endParaRPr lang="en-US" sz="1800" dirty="0"/>
          </a:p>
        </p:txBody>
      </p:sp>
      <p:sp>
        <p:nvSpPr>
          <p:cNvPr id="16" name="Shape 14"/>
          <p:cNvSpPr/>
          <p:nvPr/>
        </p:nvSpPr>
        <p:spPr>
          <a:xfrm>
            <a:off x="12908310" y="6120671"/>
            <a:ext cx="4331940" cy="976015"/>
          </a:xfrm>
          <a:prstGeom prst="rect">
            <a:avLst/>
          </a:prstGeom>
          <a:solidFill>
            <a:srgbClr val="FFFFFF"/>
          </a:solidFill>
          <a:ln w="9525">
            <a:solidFill>
              <a:srgbClr val="1A1813"/>
            </a:solidFill>
            <a:prstDash val="dot"/>
          </a:ln>
        </p:spPr>
        <p:txBody>
          <a:bodyPr/>
          <a:lstStyle/>
          <a:p>
            <a:endParaRPr lang="en-GB"/>
          </a:p>
        </p:txBody>
      </p:sp>
      <p:sp>
        <p:nvSpPr>
          <p:cNvPr id="17" name="Text 15"/>
          <p:cNvSpPr/>
          <p:nvPr/>
        </p:nvSpPr>
        <p:spPr>
          <a:xfrm>
            <a:off x="13108335" y="6282596"/>
            <a:ext cx="4325079" cy="294084"/>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800" b="1" dirty="0">
                <a:solidFill>
                  <a:srgbClr val="15140F"/>
                </a:solidFill>
                <a:latin typeface="Helvetica" pitchFamily="34" charset="0"/>
                <a:ea typeface="Helvetica" pitchFamily="34" charset="-122"/>
                <a:cs typeface="Helvetica" pitchFamily="34" charset="-120"/>
              </a:rPr>
              <a:t>Rezervna sigurna politika</a:t>
            </a:r>
            <a:endParaRPr lang="en-US" sz="1800" dirty="0"/>
          </a:p>
        </p:txBody>
      </p:sp>
      <p:sp>
        <p:nvSpPr>
          <p:cNvPr id="18" name="Text 16"/>
          <p:cNvSpPr/>
          <p:nvPr/>
        </p:nvSpPr>
        <p:spPr>
          <a:xfrm>
            <a:off x="13108335" y="6614780"/>
            <a:ext cx="432507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Ako akcija nije sigurna</a:t>
            </a:r>
            <a:endParaRPr lang="en-US" sz="1800" dirty="0"/>
          </a:p>
        </p:txBody>
      </p:sp>
      <p:sp>
        <p:nvSpPr>
          <p:cNvPr id="19" name="Text 17"/>
          <p:cNvSpPr/>
          <p:nvPr/>
        </p:nvSpPr>
        <p:spPr>
          <a:xfrm>
            <a:off x="1047750" y="7706285"/>
            <a:ext cx="17811750"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6E6B62"/>
                </a:solidFill>
                <a:latin typeface="Helvetica" pitchFamily="34" charset="0"/>
                <a:ea typeface="Helvetica" pitchFamily="34" charset="-122"/>
                <a:cs typeface="Helvetica" pitchFamily="34" charset="-120"/>
              </a:rPr>
              <a:t>Kao živčani sustav sisavaca: hitni refleksi zaobilaze koru mozga. Prednosti učenja ostaju, nepredvidivost je ograničena.</a:t>
            </a:r>
            <a:endParaRPr lang="en-US" sz="1875" dirty="0"/>
          </a:p>
        </p:txBody>
      </p:sp>
      <p:sp>
        <p:nvSpPr>
          <p:cNvPr id="20" name="Shape 18"/>
          <p:cNvSpPr/>
          <p:nvPr/>
        </p:nvSpPr>
        <p:spPr>
          <a:xfrm>
            <a:off x="1047750" y="9401175"/>
            <a:ext cx="16192500" cy="9525"/>
          </a:xfrm>
          <a:prstGeom prst="rect">
            <a:avLst/>
          </a:prstGeom>
          <a:solidFill>
            <a:srgbClr val="E4E2DA"/>
          </a:solidFill>
          <a:ln/>
        </p:spPr>
        <p:txBody>
          <a:bodyPr/>
          <a:lstStyle/>
          <a:p>
            <a:endParaRPr lang="en-GB"/>
          </a:p>
        </p:txBody>
      </p:sp>
      <p:sp>
        <p:nvSpPr>
          <p:cNvPr id="21" name="Text 19"/>
          <p:cNvSpPr/>
          <p:nvPr/>
        </p:nvSpPr>
        <p:spPr>
          <a:xfrm>
            <a:off x="1047750" y="9582150"/>
            <a:ext cx="57266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UTJELOVLJENA UMJETNA INTELIGENCIJA</a:t>
            </a:r>
            <a:endParaRPr lang="en-US" sz="1800" dirty="0"/>
          </a:p>
        </p:txBody>
      </p:sp>
      <p:sp>
        <p:nvSpPr>
          <p:cNvPr id="22" name="Text 20"/>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191941"/>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VERIFIKACIJA I VALIDACIJA</a:t>
            </a:r>
            <a:endParaRPr lang="en-US" sz="1800" dirty="0"/>
          </a:p>
        </p:txBody>
      </p:sp>
      <p:sp>
        <p:nvSpPr>
          <p:cNvPr id="3" name="Text 1"/>
          <p:cNvSpPr/>
          <p:nvPr/>
        </p:nvSpPr>
        <p:spPr>
          <a:xfrm>
            <a:off x="1047750" y="2839641"/>
            <a:ext cx="7104056" cy="1290042"/>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Simulacija uči, ali samo stvarnost presuđuje.</a:t>
            </a:r>
            <a:endParaRPr lang="en-US" sz="4650" dirty="0"/>
          </a:p>
        </p:txBody>
      </p:sp>
      <p:sp>
        <p:nvSpPr>
          <p:cNvPr id="4" name="Shape 2"/>
          <p:cNvSpPr/>
          <p:nvPr/>
        </p:nvSpPr>
        <p:spPr>
          <a:xfrm>
            <a:off x="1047750" y="4606146"/>
            <a:ext cx="3548063" cy="1795909"/>
          </a:xfrm>
          <a:prstGeom prst="rect">
            <a:avLst/>
          </a:prstGeom>
          <a:solidFill>
            <a:srgbClr val="FFFFFF"/>
          </a:solidFill>
          <a:ln w="9525">
            <a:solidFill>
              <a:srgbClr val="1A1813"/>
            </a:solidFill>
            <a:prstDash val="solid"/>
          </a:ln>
        </p:spPr>
        <p:txBody>
          <a:bodyPr/>
          <a:lstStyle/>
          <a:p>
            <a:endParaRPr lang="en-GB"/>
          </a:p>
        </p:txBody>
      </p:sp>
      <p:sp>
        <p:nvSpPr>
          <p:cNvPr id="5" name="Text 3"/>
          <p:cNvSpPr/>
          <p:nvPr/>
        </p:nvSpPr>
        <p:spPr>
          <a:xfrm>
            <a:off x="1285875" y="4825221"/>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KORAK 1</a:t>
            </a:r>
            <a:endParaRPr lang="en-US" sz="1800" dirty="0"/>
          </a:p>
        </p:txBody>
      </p:sp>
      <p:sp>
        <p:nvSpPr>
          <p:cNvPr id="6" name="Text 4"/>
          <p:cNvSpPr/>
          <p:nvPr/>
        </p:nvSpPr>
        <p:spPr>
          <a:xfrm>
            <a:off x="1285875" y="5168121"/>
            <a:ext cx="3163967" cy="635496"/>
          </a:xfrm>
          <a:prstGeom prst="rect">
            <a:avLst/>
          </a:prstGeom>
          <a:noFill/>
          <a:ln/>
        </p:spPr>
        <p:txBody>
          <a:bodyPr wrap="square" lIns="25400" tIns="25400" rIns="25400" bIns="25400" rtlCol="0" anchor="t">
            <a:normAutofit fontScale="925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Simulacija visoke vjernosti</a:t>
            </a:r>
            <a:endParaRPr lang="en-US" sz="2100" dirty="0"/>
          </a:p>
        </p:txBody>
      </p:sp>
      <p:sp>
        <p:nvSpPr>
          <p:cNvPr id="7" name="Text 5"/>
          <p:cNvSpPr/>
          <p:nvPr/>
        </p:nvSpPr>
        <p:spPr>
          <a:xfrm>
            <a:off x="1285875" y="5841717"/>
            <a:ext cx="337899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Milijuni epizoda bez rizika</a:t>
            </a:r>
            <a:endParaRPr lang="en-US" sz="1800" dirty="0"/>
          </a:p>
        </p:txBody>
      </p:sp>
      <p:sp>
        <p:nvSpPr>
          <p:cNvPr id="8" name="Text 6"/>
          <p:cNvSpPr/>
          <p:nvPr/>
        </p:nvSpPr>
        <p:spPr>
          <a:xfrm>
            <a:off x="4767263" y="5318289"/>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9" name="Shape 7"/>
          <p:cNvSpPr/>
          <p:nvPr/>
        </p:nvSpPr>
        <p:spPr>
          <a:xfrm>
            <a:off x="5262563" y="4606146"/>
            <a:ext cx="3548063" cy="1795909"/>
          </a:xfrm>
          <a:prstGeom prst="rect">
            <a:avLst/>
          </a:prstGeom>
          <a:solidFill>
            <a:srgbClr val="FFFFFF"/>
          </a:solidFill>
          <a:ln w="9525">
            <a:solidFill>
              <a:srgbClr val="1A1813"/>
            </a:solidFill>
            <a:prstDash val="solid"/>
          </a:ln>
        </p:spPr>
        <p:txBody>
          <a:bodyPr/>
          <a:lstStyle/>
          <a:p>
            <a:endParaRPr lang="en-GB"/>
          </a:p>
        </p:txBody>
      </p:sp>
      <p:sp>
        <p:nvSpPr>
          <p:cNvPr id="10" name="Text 8"/>
          <p:cNvSpPr/>
          <p:nvPr/>
        </p:nvSpPr>
        <p:spPr>
          <a:xfrm>
            <a:off x="5500688" y="4825221"/>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KORAK 2</a:t>
            </a:r>
            <a:endParaRPr lang="en-US" sz="1800" dirty="0"/>
          </a:p>
        </p:txBody>
      </p:sp>
      <p:sp>
        <p:nvSpPr>
          <p:cNvPr id="11" name="Text 9"/>
          <p:cNvSpPr/>
          <p:nvPr/>
        </p:nvSpPr>
        <p:spPr>
          <a:xfrm>
            <a:off x="5500688" y="5168121"/>
            <a:ext cx="3378994"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Domain randomization</a:t>
            </a:r>
            <a:endParaRPr lang="en-US" sz="2100" dirty="0"/>
          </a:p>
        </p:txBody>
      </p:sp>
      <p:sp>
        <p:nvSpPr>
          <p:cNvPr id="12" name="Text 10"/>
          <p:cNvSpPr/>
          <p:nvPr/>
        </p:nvSpPr>
        <p:spPr>
          <a:xfrm>
            <a:off x="5500688" y="5543019"/>
            <a:ext cx="3163967"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Variraj masu, trenje, šum → robusnost</a:t>
            </a:r>
            <a:endParaRPr lang="en-US" sz="1800" dirty="0"/>
          </a:p>
        </p:txBody>
      </p:sp>
      <p:sp>
        <p:nvSpPr>
          <p:cNvPr id="13" name="Text 11"/>
          <p:cNvSpPr/>
          <p:nvPr/>
        </p:nvSpPr>
        <p:spPr>
          <a:xfrm>
            <a:off x="8982075" y="5318289"/>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14" name="Shape 12"/>
          <p:cNvSpPr/>
          <p:nvPr/>
        </p:nvSpPr>
        <p:spPr>
          <a:xfrm>
            <a:off x="9477375" y="4606146"/>
            <a:ext cx="3548063" cy="1795909"/>
          </a:xfrm>
          <a:prstGeom prst="rect">
            <a:avLst/>
          </a:prstGeom>
          <a:solidFill>
            <a:srgbClr val="FFFFFF"/>
          </a:solidFill>
          <a:ln w="9525">
            <a:solidFill>
              <a:srgbClr val="1A1813"/>
            </a:solidFill>
            <a:prstDash val="solid"/>
          </a:ln>
        </p:spPr>
        <p:txBody>
          <a:bodyPr/>
          <a:lstStyle/>
          <a:p>
            <a:endParaRPr lang="en-GB"/>
          </a:p>
        </p:txBody>
      </p:sp>
      <p:sp>
        <p:nvSpPr>
          <p:cNvPr id="15" name="Text 13"/>
          <p:cNvSpPr/>
          <p:nvPr/>
        </p:nvSpPr>
        <p:spPr>
          <a:xfrm>
            <a:off x="9715500" y="4825221"/>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KORAK 3</a:t>
            </a:r>
            <a:endParaRPr lang="en-US" sz="1800" dirty="0"/>
          </a:p>
        </p:txBody>
      </p:sp>
      <p:sp>
        <p:nvSpPr>
          <p:cNvPr id="16" name="Text 14"/>
          <p:cNvSpPr/>
          <p:nvPr/>
        </p:nvSpPr>
        <p:spPr>
          <a:xfrm>
            <a:off x="9715500" y="5168121"/>
            <a:ext cx="3163967" cy="635496"/>
          </a:xfrm>
          <a:prstGeom prst="rect">
            <a:avLst/>
          </a:prstGeom>
          <a:noFill/>
          <a:ln/>
        </p:spPr>
        <p:txBody>
          <a:bodyPr wrap="square" lIns="25400" tIns="25400" rIns="25400" bIns="25400" rtlCol="0" anchor="t">
            <a:normAutofit fontScale="925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CBF — formalno jamstvo</a:t>
            </a:r>
            <a:endParaRPr lang="en-US" sz="2100" dirty="0"/>
          </a:p>
        </p:txBody>
      </p:sp>
      <p:sp>
        <p:nvSpPr>
          <p:cNvPr id="17" name="Text 15"/>
          <p:cNvSpPr/>
          <p:nvPr/>
        </p:nvSpPr>
        <p:spPr>
          <a:xfrm>
            <a:off x="9715500" y="5841717"/>
            <a:ext cx="337899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ḣ(x) + α·h(x) ≥ 0</a:t>
            </a:r>
            <a:endParaRPr lang="en-US" sz="1800" dirty="0"/>
          </a:p>
        </p:txBody>
      </p:sp>
      <p:sp>
        <p:nvSpPr>
          <p:cNvPr id="18" name="Text 16"/>
          <p:cNvSpPr/>
          <p:nvPr/>
        </p:nvSpPr>
        <p:spPr>
          <a:xfrm>
            <a:off x="13196888" y="5318289"/>
            <a:ext cx="363855" cy="409575"/>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9A968B"/>
                </a:solidFill>
                <a:latin typeface="Helvetica" pitchFamily="34" charset="0"/>
                <a:ea typeface="Helvetica" pitchFamily="34" charset="-122"/>
                <a:cs typeface="Helvetica" pitchFamily="34" charset="-120"/>
              </a:rPr>
              <a:t>→</a:t>
            </a:r>
            <a:endParaRPr lang="en-US" sz="2550" dirty="0"/>
          </a:p>
        </p:txBody>
      </p:sp>
      <p:sp>
        <p:nvSpPr>
          <p:cNvPr id="19" name="Shape 17"/>
          <p:cNvSpPr/>
          <p:nvPr/>
        </p:nvSpPr>
        <p:spPr>
          <a:xfrm>
            <a:off x="13692188" y="4606146"/>
            <a:ext cx="3548063" cy="1795909"/>
          </a:xfrm>
          <a:prstGeom prst="rect">
            <a:avLst/>
          </a:prstGeom>
          <a:solidFill>
            <a:srgbClr val="F5C518"/>
          </a:solidFill>
          <a:ln w="9525">
            <a:solidFill>
              <a:srgbClr val="15140F"/>
            </a:solidFill>
            <a:prstDash val="solid"/>
          </a:ln>
        </p:spPr>
        <p:txBody>
          <a:bodyPr/>
          <a:lstStyle/>
          <a:p>
            <a:endParaRPr lang="en-GB"/>
          </a:p>
        </p:txBody>
      </p:sp>
      <p:sp>
        <p:nvSpPr>
          <p:cNvPr id="20" name="Text 18"/>
          <p:cNvSpPr/>
          <p:nvPr/>
        </p:nvSpPr>
        <p:spPr>
          <a:xfrm>
            <a:off x="13930313" y="4825221"/>
            <a:ext cx="337899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5A4D00"/>
                </a:solidFill>
                <a:latin typeface="Courier New" pitchFamily="34" charset="0"/>
                <a:ea typeface="Courier New" pitchFamily="34" charset="-122"/>
                <a:cs typeface="Courier New" pitchFamily="34" charset="-120"/>
              </a:rPr>
              <a:t>KORAK 4</a:t>
            </a:r>
            <a:endParaRPr lang="en-US" sz="1800" dirty="0"/>
          </a:p>
        </p:txBody>
      </p:sp>
      <p:sp>
        <p:nvSpPr>
          <p:cNvPr id="21" name="Text 19"/>
          <p:cNvSpPr/>
          <p:nvPr/>
        </p:nvSpPr>
        <p:spPr>
          <a:xfrm>
            <a:off x="13930313" y="5168121"/>
            <a:ext cx="3378994" cy="336798"/>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5140F"/>
                </a:solidFill>
                <a:latin typeface="Helvetica" pitchFamily="34" charset="0"/>
                <a:ea typeface="Helvetica" pitchFamily="34" charset="-122"/>
                <a:cs typeface="Helvetica" pitchFamily="34" charset="-120"/>
              </a:rPr>
              <a:t>Runtime assurance</a:t>
            </a:r>
            <a:endParaRPr lang="en-US" sz="2100" dirty="0"/>
          </a:p>
        </p:txBody>
      </p:sp>
      <p:sp>
        <p:nvSpPr>
          <p:cNvPr id="22" name="Text 20"/>
          <p:cNvSpPr/>
          <p:nvPr/>
        </p:nvSpPr>
        <p:spPr>
          <a:xfrm>
            <a:off x="13930313" y="5543019"/>
            <a:ext cx="337899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4D00"/>
                </a:solidFill>
                <a:latin typeface="Helvetica" pitchFamily="34" charset="0"/>
                <a:ea typeface="Helvetica" pitchFamily="34" charset="-122"/>
                <a:cs typeface="Helvetica" pitchFamily="34" charset="-120"/>
              </a:rPr>
              <a:t>Nadzor u izvođenju</a:t>
            </a:r>
            <a:endParaRPr lang="en-US" sz="1800" dirty="0"/>
          </a:p>
        </p:txBody>
      </p:sp>
      <p:sp>
        <p:nvSpPr>
          <p:cNvPr id="23" name="Text 21"/>
          <p:cNvSpPr/>
          <p:nvPr/>
        </p:nvSpPr>
        <p:spPr>
          <a:xfrm>
            <a:off x="1047750" y="7030705"/>
            <a:ext cx="8544397" cy="1102519"/>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2025" dirty="0">
                <a:solidFill>
                  <a:srgbClr val="15140F"/>
                </a:solidFill>
                <a:latin typeface="Helvetica" pitchFamily="34" charset="0"/>
                <a:ea typeface="Helvetica" pitchFamily="34" charset="-122"/>
                <a:cs typeface="Helvetica" pitchFamily="34" charset="-120"/>
              </a:rPr>
              <a:t>Simulacija daje samo </a:t>
            </a:r>
            <a:r>
              <a:rPr lang="en-US" sz="2025" dirty="0">
                <a:solidFill>
                  <a:srgbClr val="15140F"/>
                </a:solidFill>
                <a:latin typeface="Courier New" pitchFamily="34" charset="0"/>
                <a:ea typeface="Courier New" pitchFamily="34" charset="-122"/>
                <a:cs typeface="Courier New" pitchFamily="34" charset="-120"/>
              </a:rPr>
              <a:t>statističku </a:t>
            </a:r>
            <a:r>
              <a:rPr lang="en-US" sz="2025" dirty="0">
                <a:solidFill>
                  <a:srgbClr val="15140F"/>
                </a:solidFill>
                <a:latin typeface="Helvetica" pitchFamily="34" charset="0"/>
                <a:ea typeface="Helvetica" pitchFamily="34" charset="-122"/>
                <a:cs typeface="Helvetica" pitchFamily="34" charset="-120"/>
              </a:rPr>
              <a:t>pouzdanost. Kritične funkcije traže </a:t>
            </a:r>
            <a:r>
              <a:rPr lang="en-US" sz="2025" dirty="0">
                <a:solidFill>
                  <a:srgbClr val="15140F"/>
                </a:solidFill>
                <a:highlight>
                  <a:srgbClr val="F5C518"/>
                </a:highlight>
                <a:latin typeface="Helvetica" pitchFamily="34" charset="0"/>
                <a:ea typeface="Helvetica" pitchFamily="34" charset="-122"/>
                <a:cs typeface="Helvetica" pitchFamily="34" charset="-120"/>
              </a:rPr>
              <a:t>matematičko jamstvo </a:t>
            </a:r>
            <a:r>
              <a:rPr lang="en-US" sz="2025" dirty="0">
                <a:solidFill>
                  <a:srgbClr val="15140F"/>
                </a:solidFill>
                <a:latin typeface="Helvetica" pitchFamily="34" charset="0"/>
                <a:ea typeface="Helvetica" pitchFamily="34" charset="-122"/>
                <a:cs typeface="Helvetica" pitchFamily="34" charset="-120"/>
              </a:rPr>
              <a:t>— jer „dokazana” sigurnost vrijedi koliko i model na kojem počiva.</a:t>
            </a:r>
            <a:endParaRPr lang="en-US" sz="2025" dirty="0"/>
          </a:p>
        </p:txBody>
      </p:sp>
      <p:sp>
        <p:nvSpPr>
          <p:cNvPr id="24" name="Shape 22"/>
          <p:cNvSpPr/>
          <p:nvPr/>
        </p:nvSpPr>
        <p:spPr>
          <a:xfrm>
            <a:off x="1047750" y="9401175"/>
            <a:ext cx="16192500" cy="9525"/>
          </a:xfrm>
          <a:prstGeom prst="rect">
            <a:avLst/>
          </a:prstGeom>
          <a:solidFill>
            <a:srgbClr val="E4E2DA"/>
          </a:solidFill>
          <a:ln/>
        </p:spPr>
        <p:txBody>
          <a:bodyPr/>
          <a:lstStyle/>
          <a:p>
            <a:endParaRPr lang="en-GB"/>
          </a:p>
        </p:txBody>
      </p:sp>
      <p:sp>
        <p:nvSpPr>
          <p:cNvPr id="25" name="Text 23"/>
          <p:cNvSpPr/>
          <p:nvPr/>
        </p:nvSpPr>
        <p:spPr>
          <a:xfrm>
            <a:off x="1047750" y="9582150"/>
            <a:ext cx="4210809"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VERIFIKACIJA I VALIDACIJA</a:t>
            </a:r>
            <a:endParaRPr lang="en-US" sz="1800" dirty="0"/>
          </a:p>
        </p:txBody>
      </p:sp>
      <p:sp>
        <p:nvSpPr>
          <p:cNvPr id="26" name="Text 24"/>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2109043"/>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SIGURNOSNI STANDARDI I REGULATIVA</a:t>
            </a:r>
            <a:endParaRPr lang="en-US" sz="1800" dirty="0"/>
          </a:p>
        </p:txBody>
      </p:sp>
      <p:sp>
        <p:nvSpPr>
          <p:cNvPr id="3" name="Text 1"/>
          <p:cNvSpPr/>
          <p:nvPr/>
        </p:nvSpPr>
        <p:spPr>
          <a:xfrm>
            <a:off x="1047750" y="2756743"/>
            <a:ext cx="7104056" cy="1916013"/>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650" b="1" kern="0" spc="-84" dirty="0">
                <a:solidFill>
                  <a:srgbClr val="15140F"/>
                </a:solidFill>
                <a:latin typeface="Helvetica" pitchFamily="34" charset="0"/>
                <a:ea typeface="Helvetica" pitchFamily="34" charset="-122"/>
                <a:cs typeface="Helvetica" pitchFamily="34" charset="-120"/>
              </a:rPr>
              <a:t>Norme kasne za tehnologijom koju trebaju urediti.</a:t>
            </a:r>
            <a:endParaRPr lang="en-US" sz="4650" dirty="0"/>
          </a:p>
        </p:txBody>
      </p:sp>
      <p:sp>
        <p:nvSpPr>
          <p:cNvPr id="4" name="Shape 2"/>
          <p:cNvSpPr/>
          <p:nvPr/>
        </p:nvSpPr>
        <p:spPr>
          <a:xfrm>
            <a:off x="1047750" y="5672994"/>
            <a:ext cx="1513731" cy="19050"/>
          </a:xfrm>
          <a:prstGeom prst="rect">
            <a:avLst/>
          </a:prstGeom>
          <a:solidFill>
            <a:srgbClr val="1A1813"/>
          </a:solidFill>
          <a:ln/>
        </p:spPr>
        <p:txBody>
          <a:bodyPr/>
          <a:lstStyle/>
          <a:p>
            <a:endParaRPr lang="en-GB"/>
          </a:p>
        </p:txBody>
      </p:sp>
      <p:sp>
        <p:nvSpPr>
          <p:cNvPr id="5" name="Text 3"/>
          <p:cNvSpPr/>
          <p:nvPr/>
        </p:nvSpPr>
        <p:spPr>
          <a:xfrm>
            <a:off x="1238250" y="5244369"/>
            <a:ext cx="1208931"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NAČIN</a:t>
            </a:r>
            <a:endParaRPr lang="en-US" sz="1800" dirty="0"/>
          </a:p>
        </p:txBody>
      </p:sp>
      <p:sp>
        <p:nvSpPr>
          <p:cNvPr id="6" name="Shape 4"/>
          <p:cNvSpPr/>
          <p:nvPr/>
        </p:nvSpPr>
        <p:spPr>
          <a:xfrm>
            <a:off x="2561481" y="5672994"/>
            <a:ext cx="6315819" cy="19050"/>
          </a:xfrm>
          <a:prstGeom prst="rect">
            <a:avLst/>
          </a:prstGeom>
          <a:solidFill>
            <a:srgbClr val="1A1813"/>
          </a:solidFill>
          <a:ln/>
        </p:spPr>
        <p:txBody>
          <a:bodyPr/>
          <a:lstStyle/>
          <a:p>
            <a:endParaRPr lang="en-GB"/>
          </a:p>
        </p:txBody>
      </p:sp>
      <p:sp>
        <p:nvSpPr>
          <p:cNvPr id="7" name="Text 5"/>
          <p:cNvSpPr/>
          <p:nvPr/>
        </p:nvSpPr>
        <p:spPr>
          <a:xfrm>
            <a:off x="2751981" y="5244369"/>
            <a:ext cx="612429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E6B62"/>
                </a:solidFill>
                <a:latin typeface="Courier New" pitchFamily="34" charset="0"/>
                <a:ea typeface="Courier New" pitchFamily="34" charset="-122"/>
                <a:cs typeface="Courier New" pitchFamily="34" charset="-120"/>
              </a:rPr>
              <a:t>NAČELO ZAŠTITE · ISO/TS 15066</a:t>
            </a:r>
            <a:endParaRPr lang="en-US" sz="1800" dirty="0"/>
          </a:p>
        </p:txBody>
      </p:sp>
      <p:sp>
        <p:nvSpPr>
          <p:cNvPr id="8" name="Shape 6"/>
          <p:cNvSpPr/>
          <p:nvPr/>
        </p:nvSpPr>
        <p:spPr>
          <a:xfrm>
            <a:off x="1047750" y="6306407"/>
            <a:ext cx="1513731" cy="9525"/>
          </a:xfrm>
          <a:prstGeom prst="rect">
            <a:avLst/>
          </a:prstGeom>
          <a:solidFill>
            <a:srgbClr val="E4E2DA"/>
          </a:solidFill>
          <a:ln/>
        </p:spPr>
        <p:txBody>
          <a:bodyPr/>
          <a:lstStyle/>
          <a:p>
            <a:endParaRPr lang="en-GB"/>
          </a:p>
        </p:txBody>
      </p:sp>
      <p:sp>
        <p:nvSpPr>
          <p:cNvPr id="9" name="Text 7"/>
          <p:cNvSpPr/>
          <p:nvPr/>
        </p:nvSpPr>
        <p:spPr>
          <a:xfrm>
            <a:off x="1238250" y="5863494"/>
            <a:ext cx="1208931" cy="309562"/>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SRMS</a:t>
            </a:r>
            <a:endParaRPr lang="en-US" sz="1800" dirty="0"/>
          </a:p>
        </p:txBody>
      </p:sp>
      <p:sp>
        <p:nvSpPr>
          <p:cNvPr id="10" name="Shape 8"/>
          <p:cNvSpPr/>
          <p:nvPr/>
        </p:nvSpPr>
        <p:spPr>
          <a:xfrm>
            <a:off x="2561481" y="6306407"/>
            <a:ext cx="6315819" cy="9525"/>
          </a:xfrm>
          <a:prstGeom prst="rect">
            <a:avLst/>
          </a:prstGeom>
          <a:solidFill>
            <a:srgbClr val="E4E2DA"/>
          </a:solidFill>
          <a:ln/>
        </p:spPr>
        <p:txBody>
          <a:bodyPr/>
          <a:lstStyle/>
          <a:p>
            <a:endParaRPr lang="en-GB"/>
          </a:p>
        </p:txBody>
      </p:sp>
      <p:sp>
        <p:nvSpPr>
          <p:cNvPr id="11" name="Text 9"/>
          <p:cNvSpPr/>
          <p:nvPr/>
        </p:nvSpPr>
        <p:spPr>
          <a:xfrm>
            <a:off x="2751981" y="5863494"/>
            <a:ext cx="6124294" cy="309562"/>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Robot miruje dok je čovjek u zoni</a:t>
            </a:r>
            <a:endParaRPr lang="en-US" sz="1800" dirty="0"/>
          </a:p>
        </p:txBody>
      </p:sp>
      <p:sp>
        <p:nvSpPr>
          <p:cNvPr id="12" name="Shape 10"/>
          <p:cNvSpPr/>
          <p:nvPr/>
        </p:nvSpPr>
        <p:spPr>
          <a:xfrm>
            <a:off x="1047750" y="6925532"/>
            <a:ext cx="1513731" cy="9525"/>
          </a:xfrm>
          <a:prstGeom prst="rect">
            <a:avLst/>
          </a:prstGeom>
          <a:solidFill>
            <a:srgbClr val="E4E2DA"/>
          </a:solidFill>
          <a:ln/>
        </p:spPr>
        <p:txBody>
          <a:bodyPr/>
          <a:lstStyle/>
          <a:p>
            <a:endParaRPr lang="en-GB"/>
          </a:p>
        </p:txBody>
      </p:sp>
      <p:sp>
        <p:nvSpPr>
          <p:cNvPr id="13" name="Text 11"/>
          <p:cNvSpPr/>
          <p:nvPr/>
        </p:nvSpPr>
        <p:spPr>
          <a:xfrm>
            <a:off x="1238250" y="6487382"/>
            <a:ext cx="1208931"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HG</a:t>
            </a:r>
            <a:endParaRPr lang="en-US" sz="1800" dirty="0"/>
          </a:p>
        </p:txBody>
      </p:sp>
      <p:sp>
        <p:nvSpPr>
          <p:cNvPr id="14" name="Shape 12"/>
          <p:cNvSpPr/>
          <p:nvPr/>
        </p:nvSpPr>
        <p:spPr>
          <a:xfrm>
            <a:off x="2561481" y="6925532"/>
            <a:ext cx="6315819" cy="9525"/>
          </a:xfrm>
          <a:prstGeom prst="rect">
            <a:avLst/>
          </a:prstGeom>
          <a:solidFill>
            <a:srgbClr val="E4E2DA"/>
          </a:solidFill>
          <a:ln/>
        </p:spPr>
        <p:txBody>
          <a:bodyPr/>
          <a:lstStyle/>
          <a:p>
            <a:endParaRPr lang="en-GB"/>
          </a:p>
        </p:txBody>
      </p:sp>
      <p:sp>
        <p:nvSpPr>
          <p:cNvPr id="15" name="Text 13"/>
          <p:cNvSpPr/>
          <p:nvPr/>
        </p:nvSpPr>
        <p:spPr>
          <a:xfrm>
            <a:off x="2751981" y="6487382"/>
            <a:ext cx="612429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Čovjek vodi robota uz nadziranu silu</a:t>
            </a:r>
            <a:endParaRPr lang="en-US" sz="1800" dirty="0"/>
          </a:p>
        </p:txBody>
      </p:sp>
      <p:sp>
        <p:nvSpPr>
          <p:cNvPr id="16" name="Shape 14"/>
          <p:cNvSpPr/>
          <p:nvPr/>
        </p:nvSpPr>
        <p:spPr>
          <a:xfrm>
            <a:off x="1047750" y="7544657"/>
            <a:ext cx="1513731" cy="9525"/>
          </a:xfrm>
          <a:prstGeom prst="rect">
            <a:avLst/>
          </a:prstGeom>
          <a:solidFill>
            <a:srgbClr val="E4E2DA"/>
          </a:solidFill>
          <a:ln/>
        </p:spPr>
        <p:txBody>
          <a:bodyPr/>
          <a:lstStyle/>
          <a:p>
            <a:endParaRPr lang="en-GB"/>
          </a:p>
        </p:txBody>
      </p:sp>
      <p:sp>
        <p:nvSpPr>
          <p:cNvPr id="17" name="Text 15"/>
          <p:cNvSpPr/>
          <p:nvPr/>
        </p:nvSpPr>
        <p:spPr>
          <a:xfrm>
            <a:off x="1238250" y="7106507"/>
            <a:ext cx="1208931"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SSM</a:t>
            </a:r>
            <a:endParaRPr lang="en-US" sz="1800" dirty="0"/>
          </a:p>
        </p:txBody>
      </p:sp>
      <p:sp>
        <p:nvSpPr>
          <p:cNvPr id="18" name="Shape 16"/>
          <p:cNvSpPr/>
          <p:nvPr/>
        </p:nvSpPr>
        <p:spPr>
          <a:xfrm>
            <a:off x="2561481" y="7544657"/>
            <a:ext cx="6315819" cy="9525"/>
          </a:xfrm>
          <a:prstGeom prst="rect">
            <a:avLst/>
          </a:prstGeom>
          <a:solidFill>
            <a:srgbClr val="E4E2DA"/>
          </a:solidFill>
          <a:ln/>
        </p:spPr>
        <p:txBody>
          <a:bodyPr/>
          <a:lstStyle/>
          <a:p>
            <a:endParaRPr lang="en-GB"/>
          </a:p>
        </p:txBody>
      </p:sp>
      <p:sp>
        <p:nvSpPr>
          <p:cNvPr id="19" name="Text 17"/>
          <p:cNvSpPr/>
          <p:nvPr/>
        </p:nvSpPr>
        <p:spPr>
          <a:xfrm>
            <a:off x="2751981" y="7106507"/>
            <a:ext cx="612429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Brzina pada s udaljenosti do čovjeka</a:t>
            </a:r>
            <a:endParaRPr lang="en-US" sz="1800" dirty="0"/>
          </a:p>
        </p:txBody>
      </p:sp>
      <p:sp>
        <p:nvSpPr>
          <p:cNvPr id="20" name="Shape 18"/>
          <p:cNvSpPr/>
          <p:nvPr/>
        </p:nvSpPr>
        <p:spPr>
          <a:xfrm>
            <a:off x="1047750" y="8163782"/>
            <a:ext cx="1513731" cy="9525"/>
          </a:xfrm>
          <a:prstGeom prst="rect">
            <a:avLst/>
          </a:prstGeom>
          <a:solidFill>
            <a:srgbClr val="E4E2DA"/>
          </a:solidFill>
          <a:ln/>
        </p:spPr>
        <p:txBody>
          <a:bodyPr/>
          <a:lstStyle/>
          <a:p>
            <a:endParaRPr lang="en-GB"/>
          </a:p>
        </p:txBody>
      </p:sp>
      <p:sp>
        <p:nvSpPr>
          <p:cNvPr id="21" name="Text 19"/>
          <p:cNvSpPr/>
          <p:nvPr/>
        </p:nvSpPr>
        <p:spPr>
          <a:xfrm>
            <a:off x="1238250" y="7725632"/>
            <a:ext cx="1208931"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140F"/>
                </a:solidFill>
                <a:latin typeface="Helvetica" pitchFamily="34" charset="0"/>
                <a:ea typeface="Helvetica" pitchFamily="34" charset="-122"/>
                <a:cs typeface="Helvetica" pitchFamily="34" charset="-120"/>
              </a:rPr>
              <a:t>PFL</a:t>
            </a:r>
            <a:endParaRPr lang="en-US" sz="1800" dirty="0"/>
          </a:p>
        </p:txBody>
      </p:sp>
      <p:sp>
        <p:nvSpPr>
          <p:cNvPr id="22" name="Shape 20"/>
          <p:cNvSpPr/>
          <p:nvPr/>
        </p:nvSpPr>
        <p:spPr>
          <a:xfrm>
            <a:off x="2561481" y="8163782"/>
            <a:ext cx="6315819" cy="9525"/>
          </a:xfrm>
          <a:prstGeom prst="rect">
            <a:avLst/>
          </a:prstGeom>
          <a:solidFill>
            <a:srgbClr val="E4E2DA"/>
          </a:solidFill>
          <a:ln/>
        </p:spPr>
        <p:txBody>
          <a:bodyPr/>
          <a:lstStyle/>
          <a:p>
            <a:endParaRPr lang="en-GB"/>
          </a:p>
        </p:txBody>
      </p:sp>
      <p:sp>
        <p:nvSpPr>
          <p:cNvPr id="23" name="Text 21"/>
          <p:cNvSpPr/>
          <p:nvPr/>
        </p:nvSpPr>
        <p:spPr>
          <a:xfrm>
            <a:off x="2751981" y="7725632"/>
            <a:ext cx="612429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5140F"/>
                </a:solidFill>
                <a:latin typeface="Helvetica" pitchFamily="34" charset="0"/>
                <a:ea typeface="Helvetica" pitchFamily="34" charset="-122"/>
                <a:cs typeface="Helvetica" pitchFamily="34" charset="-120"/>
              </a:rPr>
              <a:t>Kontakt dopušten ispod biomeh. praga</a:t>
            </a:r>
            <a:endParaRPr lang="en-US" sz="1800" dirty="0"/>
          </a:p>
        </p:txBody>
      </p:sp>
      <p:sp>
        <p:nvSpPr>
          <p:cNvPr id="24" name="Shape 22"/>
          <p:cNvSpPr/>
          <p:nvPr/>
        </p:nvSpPr>
        <p:spPr>
          <a:xfrm>
            <a:off x="9410700" y="5169211"/>
            <a:ext cx="7829550" cy="1643955"/>
          </a:xfrm>
          <a:prstGeom prst="rect">
            <a:avLst/>
          </a:prstGeom>
          <a:solidFill>
            <a:srgbClr val="F5C518"/>
          </a:solidFill>
          <a:ln w="9525">
            <a:solidFill>
              <a:srgbClr val="15140F"/>
            </a:solidFill>
            <a:prstDash val="solid"/>
          </a:ln>
        </p:spPr>
        <p:txBody>
          <a:bodyPr/>
          <a:lstStyle/>
          <a:p>
            <a:endParaRPr lang="en-GB"/>
          </a:p>
        </p:txBody>
      </p:sp>
      <p:sp>
        <p:nvSpPr>
          <p:cNvPr id="25" name="Text 23"/>
          <p:cNvSpPr/>
          <p:nvPr/>
        </p:nvSpPr>
        <p:spPr>
          <a:xfrm>
            <a:off x="9725025" y="5464486"/>
            <a:ext cx="792099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80" dirty="0">
                <a:solidFill>
                  <a:srgbClr val="5A4D00"/>
                </a:solidFill>
                <a:latin typeface="Courier New" pitchFamily="34" charset="0"/>
                <a:ea typeface="Courier New" pitchFamily="34" charset="-122"/>
                <a:cs typeface="Courier New" pitchFamily="34" charset="-120"/>
              </a:rPr>
              <a:t>EU AI ACT</a:t>
            </a:r>
            <a:endParaRPr lang="en-US" sz="1800" dirty="0"/>
          </a:p>
        </p:txBody>
      </p:sp>
      <p:sp>
        <p:nvSpPr>
          <p:cNvPr id="26" name="Text 24"/>
          <p:cNvSpPr/>
          <p:nvPr/>
        </p:nvSpPr>
        <p:spPr>
          <a:xfrm>
            <a:off x="9725025" y="5860667"/>
            <a:ext cx="7416927" cy="695325"/>
          </a:xfrm>
          <a:prstGeom prst="rect">
            <a:avLst/>
          </a:prstGeom>
          <a:noFill/>
          <a:ln/>
        </p:spPr>
        <p:txBody>
          <a:bodyPr wrap="square" lIns="25400" tIns="25400" rIns="25400" bIns="25400" rtlCol="0" anchor="t">
            <a:normAutofit fontScale="92500" lnSpcReduction="10000"/>
          </a:bodyPr>
          <a:lstStyle/>
          <a:p>
            <a:pPr marL="0" indent="0" algn="l">
              <a:lnSpc>
                <a:spcPct val="138000"/>
              </a:lnSpc>
              <a:buNone/>
            </a:pPr>
            <a:r>
              <a:rPr lang="en-US" sz="1875" dirty="0">
                <a:solidFill>
                  <a:srgbClr val="15140F"/>
                </a:solidFill>
                <a:latin typeface="Helvetica" pitchFamily="34" charset="0"/>
                <a:ea typeface="Helvetica" pitchFamily="34" charset="-122"/>
                <a:cs typeface="Helvetica" pitchFamily="34" charset="-120"/>
              </a:rPr>
              <a:t>Roboti koji rade blizu ljudi = </a:t>
            </a:r>
            <a:r>
              <a:rPr lang="en-US" sz="1875" b="1" dirty="0">
                <a:solidFill>
                  <a:srgbClr val="15140F"/>
                </a:solidFill>
                <a:latin typeface="Helvetica" pitchFamily="34" charset="0"/>
                <a:ea typeface="Helvetica" pitchFamily="34" charset="-122"/>
                <a:cs typeface="Helvetica" pitchFamily="34" charset="-120"/>
              </a:rPr>
              <a:t>visokorizični sustavi </a:t>
            </a:r>
            <a:r>
              <a:rPr lang="en-US" sz="1875" dirty="0">
                <a:solidFill>
                  <a:srgbClr val="15140F"/>
                </a:solidFill>
                <a:latin typeface="Helvetica" pitchFamily="34" charset="0"/>
                <a:ea typeface="Helvetica" pitchFamily="34" charset="-122"/>
                <a:cs typeface="Helvetica" pitchFamily="34" charset="-120"/>
              </a:rPr>
              <a:t>: traže procjenu rizika i evidenciju radnji.</a:t>
            </a:r>
            <a:endParaRPr lang="en-US" sz="1875" dirty="0"/>
          </a:p>
        </p:txBody>
      </p:sp>
      <p:sp>
        <p:nvSpPr>
          <p:cNvPr id="27" name="Text 25"/>
          <p:cNvSpPr/>
          <p:nvPr/>
        </p:nvSpPr>
        <p:spPr>
          <a:xfrm>
            <a:off x="9410700" y="7213217"/>
            <a:ext cx="8064437"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ISO 10218 (rev. 2025) integrira ISO/TS 15066, no okvir je nastao za klasične manipulatore — mobilni humanoidi ostaju otvoreno pitanje.</a:t>
            </a:r>
            <a:endParaRPr lang="en-US" sz="1800" dirty="0"/>
          </a:p>
        </p:txBody>
      </p:sp>
      <p:sp>
        <p:nvSpPr>
          <p:cNvPr id="28" name="Shape 26"/>
          <p:cNvSpPr/>
          <p:nvPr/>
        </p:nvSpPr>
        <p:spPr>
          <a:xfrm>
            <a:off x="1047750" y="9401175"/>
            <a:ext cx="16192500" cy="9525"/>
          </a:xfrm>
          <a:prstGeom prst="rect">
            <a:avLst/>
          </a:prstGeom>
          <a:solidFill>
            <a:srgbClr val="E4E2DA"/>
          </a:solidFill>
          <a:ln/>
        </p:spPr>
        <p:txBody>
          <a:bodyPr/>
          <a:lstStyle/>
          <a:p>
            <a:endParaRPr lang="en-GB"/>
          </a:p>
        </p:txBody>
      </p:sp>
      <p:sp>
        <p:nvSpPr>
          <p:cNvPr id="29" name="Text 27"/>
          <p:cNvSpPr/>
          <p:nvPr/>
        </p:nvSpPr>
        <p:spPr>
          <a:xfrm>
            <a:off x="1047750" y="9582150"/>
            <a:ext cx="5558314"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SIGURNOSNI STANDARDI I REGULATIVA</a:t>
            </a:r>
            <a:endParaRPr lang="en-US" sz="1800" dirty="0"/>
          </a:p>
        </p:txBody>
      </p:sp>
      <p:sp>
        <p:nvSpPr>
          <p:cNvPr id="30" name="Text 28"/>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1780729"/>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KRITIČKA USPOREDBA PLATFORMI</a:t>
            </a:r>
            <a:endParaRPr lang="en-US" sz="1800" dirty="0"/>
          </a:p>
        </p:txBody>
      </p:sp>
      <p:sp>
        <p:nvSpPr>
          <p:cNvPr id="3" name="Text 1"/>
          <p:cNvSpPr/>
          <p:nvPr/>
        </p:nvSpPr>
        <p:spPr>
          <a:xfrm>
            <a:off x="1047750" y="2333179"/>
            <a:ext cx="6416537" cy="1168896"/>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200" b="1" kern="0" spc="-76" dirty="0">
                <a:solidFill>
                  <a:srgbClr val="15140F"/>
                </a:solidFill>
                <a:latin typeface="Helvetica" pitchFamily="34" charset="0"/>
                <a:ea typeface="Helvetica" pitchFamily="34" charset="-122"/>
                <a:cs typeface="Helvetica" pitchFamily="34" charset="-120"/>
              </a:rPr>
              <a:t>Ne postoji najbolji robot, nego niz kompromisa.</a:t>
            </a:r>
            <a:endParaRPr lang="en-US" sz="4200" dirty="0"/>
          </a:p>
        </p:txBody>
      </p:sp>
      <p:pic>
        <p:nvPicPr>
          <p:cNvPr id="4" name="Image 0" descr="preencoded.png"/>
          <p:cNvPicPr>
            <a:picLocks noChangeAspect="1"/>
          </p:cNvPicPr>
          <p:nvPr/>
        </p:nvPicPr>
        <p:blipFill>
          <a:blip r:embed="rId3"/>
          <a:srcRect t="-119" b="-119"/>
          <a:stretch/>
        </p:blipFill>
        <p:spPr>
          <a:xfrm>
            <a:off x="1047750" y="3788041"/>
            <a:ext cx="3890962" cy="2190750"/>
          </a:xfrm>
          <a:prstGeom prst="rect">
            <a:avLst/>
          </a:prstGeom>
        </p:spPr>
      </p:pic>
      <p:sp>
        <p:nvSpPr>
          <p:cNvPr id="5" name="Text 2"/>
          <p:cNvSpPr/>
          <p:nvPr/>
        </p:nvSpPr>
        <p:spPr>
          <a:xfrm>
            <a:off x="1047750" y="6093091"/>
            <a:ext cx="4280059"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Atlas</a:t>
            </a:r>
            <a:endParaRPr lang="en-US" sz="1875" dirty="0"/>
          </a:p>
        </p:txBody>
      </p:sp>
      <p:sp>
        <p:nvSpPr>
          <p:cNvPr id="6" name="Text 3"/>
          <p:cNvSpPr/>
          <p:nvPr/>
        </p:nvSpPr>
        <p:spPr>
          <a:xfrm>
            <a:off x="1047750" y="6407416"/>
            <a:ext cx="428005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Courier New" pitchFamily="34" charset="0"/>
                <a:ea typeface="Courier New" pitchFamily="34" charset="-122"/>
                <a:cs typeface="Courier New" pitchFamily="34" charset="-120"/>
              </a:rPr>
              <a:t>Asistirana · R&amp;D</a:t>
            </a:r>
            <a:endParaRPr lang="en-US" sz="1800" dirty="0"/>
          </a:p>
        </p:txBody>
      </p:sp>
      <p:sp>
        <p:nvSpPr>
          <p:cNvPr id="7" name="Text 4"/>
          <p:cNvSpPr/>
          <p:nvPr/>
        </p:nvSpPr>
        <p:spPr>
          <a:xfrm>
            <a:off x="1047750" y="6803596"/>
            <a:ext cx="4007691"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Maksimalna dinamika, nije za rad uz ljude.</a:t>
            </a:r>
            <a:endParaRPr lang="en-US" sz="1800" dirty="0"/>
          </a:p>
        </p:txBody>
      </p:sp>
      <p:pic>
        <p:nvPicPr>
          <p:cNvPr id="8" name="Image 1" descr="preencoded.png"/>
          <p:cNvPicPr>
            <a:picLocks noChangeAspect="1"/>
          </p:cNvPicPr>
          <p:nvPr/>
        </p:nvPicPr>
        <p:blipFill>
          <a:blip r:embed="rId4"/>
          <a:srcRect t="-22" b="-22"/>
          <a:stretch/>
        </p:blipFill>
        <p:spPr>
          <a:xfrm>
            <a:off x="5148263" y="3788041"/>
            <a:ext cx="3890962" cy="2190750"/>
          </a:xfrm>
          <a:prstGeom prst="rect">
            <a:avLst/>
          </a:prstGeom>
        </p:spPr>
      </p:pic>
      <p:sp>
        <p:nvSpPr>
          <p:cNvPr id="9" name="Text 5"/>
          <p:cNvSpPr/>
          <p:nvPr/>
        </p:nvSpPr>
        <p:spPr>
          <a:xfrm>
            <a:off x="5148263" y="6093091"/>
            <a:ext cx="4280059"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Digit</a:t>
            </a:r>
            <a:endParaRPr lang="en-US" sz="1875" dirty="0"/>
          </a:p>
        </p:txBody>
      </p:sp>
      <p:sp>
        <p:nvSpPr>
          <p:cNvPr id="10" name="Text 6"/>
          <p:cNvSpPr/>
          <p:nvPr/>
        </p:nvSpPr>
        <p:spPr>
          <a:xfrm>
            <a:off x="5148263" y="6407416"/>
            <a:ext cx="428005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Courier New" pitchFamily="34" charset="0"/>
                <a:ea typeface="Courier New" pitchFamily="34" charset="-122"/>
                <a:cs typeface="Courier New" pitchFamily="34" charset="-120"/>
              </a:rPr>
              <a:t>Djelomična · Logistika</a:t>
            </a:r>
            <a:endParaRPr lang="en-US" sz="1800" dirty="0"/>
          </a:p>
        </p:txBody>
      </p:sp>
      <p:sp>
        <p:nvSpPr>
          <p:cNvPr id="11" name="Text 7"/>
          <p:cNvSpPr/>
          <p:nvPr/>
        </p:nvSpPr>
        <p:spPr>
          <a:xfrm>
            <a:off x="5148263" y="6803596"/>
            <a:ext cx="4007691"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Uska domena, SSM, certifikabilan i u uporabi.</a:t>
            </a:r>
            <a:endParaRPr lang="en-US" sz="1800" dirty="0"/>
          </a:p>
        </p:txBody>
      </p:sp>
      <p:pic>
        <p:nvPicPr>
          <p:cNvPr id="12" name="Image 2" descr="preencoded.png"/>
          <p:cNvPicPr>
            <a:picLocks noChangeAspect="1"/>
          </p:cNvPicPr>
          <p:nvPr/>
        </p:nvPicPr>
        <p:blipFill>
          <a:blip r:embed="rId5"/>
          <a:srcRect l="-16603" r="-16603"/>
          <a:stretch/>
        </p:blipFill>
        <p:spPr>
          <a:xfrm>
            <a:off x="9248775" y="3788041"/>
            <a:ext cx="3890962" cy="2190750"/>
          </a:xfrm>
          <a:prstGeom prst="rect">
            <a:avLst/>
          </a:prstGeom>
        </p:spPr>
      </p:pic>
      <p:sp>
        <p:nvSpPr>
          <p:cNvPr id="13" name="Text 8"/>
          <p:cNvSpPr/>
          <p:nvPr/>
        </p:nvSpPr>
        <p:spPr>
          <a:xfrm>
            <a:off x="9248775" y="6093091"/>
            <a:ext cx="4280059"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Optimus</a:t>
            </a:r>
            <a:endParaRPr lang="en-US" sz="1875" dirty="0"/>
          </a:p>
        </p:txBody>
      </p:sp>
      <p:sp>
        <p:nvSpPr>
          <p:cNvPr id="14" name="Text 9"/>
          <p:cNvSpPr/>
          <p:nvPr/>
        </p:nvSpPr>
        <p:spPr>
          <a:xfrm>
            <a:off x="9248775" y="6407416"/>
            <a:ext cx="428005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Courier New" pitchFamily="34" charset="0"/>
                <a:ea typeface="Courier New" pitchFamily="34" charset="-122"/>
                <a:cs typeface="Courier New" pitchFamily="34" charset="-120"/>
              </a:rPr>
              <a:t>AI-vođena · Tvornice</a:t>
            </a:r>
            <a:endParaRPr lang="en-US" sz="1800" dirty="0"/>
          </a:p>
        </p:txBody>
      </p:sp>
      <p:sp>
        <p:nvSpPr>
          <p:cNvPr id="15" name="Text 10"/>
          <p:cNvSpPr/>
          <p:nvPr/>
        </p:nvSpPr>
        <p:spPr>
          <a:xfrm>
            <a:off x="9248775" y="6803596"/>
            <a:ext cx="4007691" cy="67806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AI-filtri; sigurnost tek treba biti dokazana.</a:t>
            </a:r>
            <a:endParaRPr lang="en-US" sz="1800" dirty="0"/>
          </a:p>
        </p:txBody>
      </p:sp>
      <p:pic>
        <p:nvPicPr>
          <p:cNvPr id="16" name="Image 3" descr="preencoded.png"/>
          <p:cNvPicPr>
            <a:picLocks noChangeAspect="1"/>
          </p:cNvPicPr>
          <p:nvPr/>
        </p:nvPicPr>
        <p:blipFill>
          <a:blip r:embed="rId6"/>
          <a:srcRect l="-16603" r="-16603"/>
          <a:stretch/>
        </p:blipFill>
        <p:spPr>
          <a:xfrm>
            <a:off x="13349288" y="3788041"/>
            <a:ext cx="3890962" cy="2190750"/>
          </a:xfrm>
          <a:prstGeom prst="rect">
            <a:avLst/>
          </a:prstGeom>
        </p:spPr>
      </p:pic>
      <p:sp>
        <p:nvSpPr>
          <p:cNvPr id="17" name="Text 11"/>
          <p:cNvSpPr/>
          <p:nvPr/>
        </p:nvSpPr>
        <p:spPr>
          <a:xfrm>
            <a:off x="13349288" y="6093091"/>
            <a:ext cx="4280059" cy="314325"/>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5140F"/>
                </a:solidFill>
                <a:latin typeface="Helvetica" pitchFamily="34" charset="0"/>
                <a:ea typeface="Helvetica" pitchFamily="34" charset="-122"/>
                <a:cs typeface="Helvetica" pitchFamily="34" charset="-120"/>
              </a:rPr>
              <a:t>Unitree G1</a:t>
            </a:r>
            <a:endParaRPr lang="en-US" sz="1875" dirty="0"/>
          </a:p>
        </p:txBody>
      </p:sp>
      <p:sp>
        <p:nvSpPr>
          <p:cNvPr id="18" name="Text 12"/>
          <p:cNvSpPr/>
          <p:nvPr/>
        </p:nvSpPr>
        <p:spPr>
          <a:xfrm>
            <a:off x="13349288" y="6407416"/>
            <a:ext cx="428005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Courier New" pitchFamily="34" charset="0"/>
                <a:ea typeface="Courier New" pitchFamily="34" charset="-122"/>
                <a:cs typeface="Courier New" pitchFamily="34" charset="-120"/>
              </a:rPr>
              <a:t>Fleksibilna · Istraživanje</a:t>
            </a:r>
            <a:endParaRPr lang="en-US" sz="1800" dirty="0"/>
          </a:p>
        </p:txBody>
      </p:sp>
      <p:sp>
        <p:nvSpPr>
          <p:cNvPr id="19" name="Text 13"/>
          <p:cNvSpPr/>
          <p:nvPr/>
        </p:nvSpPr>
        <p:spPr>
          <a:xfrm>
            <a:off x="13349288" y="6803596"/>
            <a:ext cx="428005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Niska masa i cijena — povoljniji rizik.</a:t>
            </a:r>
            <a:endParaRPr lang="en-US" sz="1800" dirty="0"/>
          </a:p>
        </p:txBody>
      </p:sp>
      <p:sp>
        <p:nvSpPr>
          <p:cNvPr id="20" name="Text 14"/>
          <p:cNvSpPr/>
          <p:nvPr/>
        </p:nvSpPr>
        <p:spPr>
          <a:xfrm>
            <a:off x="1047750" y="7957907"/>
            <a:ext cx="1781175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6E6B62"/>
                </a:solidFill>
                <a:latin typeface="Helvetica" pitchFamily="34" charset="0"/>
                <a:ea typeface="Helvetica" pitchFamily="34" charset="-122"/>
                <a:cs typeface="Helvetica" pitchFamily="34" charset="-120"/>
              </a:rPr>
              <a:t>Svaka platforma zauzima drugu točku na osi </a:t>
            </a:r>
            <a:r>
              <a:rPr lang="en-US" sz="1800" dirty="0">
                <a:solidFill>
                  <a:srgbClr val="6E6B62"/>
                </a:solidFill>
                <a:highlight>
                  <a:srgbClr val="F5C518"/>
                </a:highlight>
                <a:latin typeface="Helvetica" pitchFamily="34" charset="0"/>
                <a:ea typeface="Helvetica" pitchFamily="34" charset="-122"/>
                <a:cs typeface="Helvetica" pitchFamily="34" charset="-120"/>
              </a:rPr>
              <a:t>autonomija ↔ sigurnost </a:t>
            </a:r>
            <a:r>
              <a:rPr lang="en-US" sz="1800" dirty="0">
                <a:solidFill>
                  <a:srgbClr val="6E6B62"/>
                </a:solidFill>
                <a:latin typeface="Helvetica" pitchFamily="34" charset="0"/>
                <a:ea typeface="Helvetica" pitchFamily="34" charset="-122"/>
                <a:cs typeface="Helvetica" pitchFamily="34" charset="-120"/>
              </a:rPr>
              <a:t>— napetost, a ne pojedina tehnologija, prava je okosnica područja.</a:t>
            </a:r>
            <a:endParaRPr lang="en-US" sz="1800" dirty="0"/>
          </a:p>
        </p:txBody>
      </p:sp>
      <p:sp>
        <p:nvSpPr>
          <p:cNvPr id="21" name="Shape 15"/>
          <p:cNvSpPr/>
          <p:nvPr/>
        </p:nvSpPr>
        <p:spPr>
          <a:xfrm>
            <a:off x="1047750" y="9401175"/>
            <a:ext cx="16192500" cy="9525"/>
          </a:xfrm>
          <a:prstGeom prst="rect">
            <a:avLst/>
          </a:prstGeom>
          <a:solidFill>
            <a:srgbClr val="E4E2DA"/>
          </a:solidFill>
          <a:ln/>
        </p:spPr>
        <p:txBody>
          <a:bodyPr/>
          <a:lstStyle/>
          <a:p>
            <a:endParaRPr lang="en-GB"/>
          </a:p>
        </p:txBody>
      </p:sp>
      <p:sp>
        <p:nvSpPr>
          <p:cNvPr id="22" name="Text 16"/>
          <p:cNvSpPr/>
          <p:nvPr/>
        </p:nvSpPr>
        <p:spPr>
          <a:xfrm>
            <a:off x="1047750" y="9582150"/>
            <a:ext cx="4716021"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KRITIČKA USPOREDBA PLATFORMI</a:t>
            </a:r>
            <a:endParaRPr lang="en-US" sz="1800" dirty="0"/>
          </a:p>
        </p:txBody>
      </p:sp>
      <p:sp>
        <p:nvSpPr>
          <p:cNvPr id="23" name="Text 17"/>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17</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1047750" y="3388816"/>
            <a:ext cx="17811750" cy="304800"/>
          </a:xfrm>
          <a:prstGeom prst="rect">
            <a:avLst/>
          </a:prstGeom>
          <a:noFill/>
          <a:ln/>
        </p:spPr>
        <p:txBody>
          <a:bodyPr wrap="square" lIns="25400" tIns="25400" rIns="25400" bIns="25400" rtlCol="0" anchor="ctr">
            <a:normAutofit lnSpcReduction="10000"/>
          </a:bodyPr>
          <a:lstStyle/>
          <a:p>
            <a:pPr marL="0" indent="0" algn="l">
              <a:buNone/>
            </a:pPr>
            <a:r>
              <a:rPr lang="en-US" sz="1800" kern="0" spc="396" dirty="0">
                <a:solidFill>
                  <a:srgbClr val="6E6B62"/>
                </a:solidFill>
                <a:latin typeface="Courier New" pitchFamily="34" charset="0"/>
                <a:ea typeface="Courier New" pitchFamily="34" charset="-122"/>
                <a:cs typeface="Courier New" pitchFamily="34" charset="-120"/>
              </a:rPr>
              <a:t>ZAKLJUČAK</a:t>
            </a:r>
            <a:endParaRPr lang="en-US" sz="1800" dirty="0"/>
          </a:p>
        </p:txBody>
      </p:sp>
      <p:sp>
        <p:nvSpPr>
          <p:cNvPr id="3" name="Text 1"/>
          <p:cNvSpPr/>
          <p:nvPr/>
        </p:nvSpPr>
        <p:spPr>
          <a:xfrm>
            <a:off x="1047750" y="3998416"/>
            <a:ext cx="17811750" cy="1270248"/>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9900" b="1" kern="0" spc="-178" dirty="0">
                <a:solidFill>
                  <a:srgbClr val="15140F"/>
                </a:solidFill>
                <a:latin typeface="Helvetica" pitchFamily="34" charset="0"/>
                <a:ea typeface="Helvetica" pitchFamily="34" charset="-122"/>
                <a:cs typeface="Helvetica" pitchFamily="34" charset="-120"/>
              </a:rPr>
              <a:t>Hvala na pozornosti!</a:t>
            </a:r>
            <a:endParaRPr lang="en-US" sz="9900" dirty="0"/>
          </a:p>
        </p:txBody>
      </p:sp>
      <p:sp>
        <p:nvSpPr>
          <p:cNvPr id="4" name="Text 2"/>
          <p:cNvSpPr/>
          <p:nvPr/>
        </p:nvSpPr>
        <p:spPr>
          <a:xfrm>
            <a:off x="1047750" y="5573464"/>
            <a:ext cx="8708114" cy="1362819"/>
          </a:xfrm>
          <a:prstGeom prst="rect">
            <a:avLst/>
          </a:prstGeom>
          <a:noFill/>
          <a:ln/>
        </p:spPr>
        <p:txBody>
          <a:bodyPr wrap="square" lIns="25400" tIns="25400" rIns="25400" bIns="25400" rtlCol="0" anchor="t">
            <a:normAutofit fontScale="92500"/>
          </a:bodyPr>
          <a:lstStyle/>
          <a:p>
            <a:pPr marL="0" indent="0" algn="l">
              <a:lnSpc>
                <a:spcPct val="122000"/>
              </a:lnSpc>
              <a:buNone/>
            </a:pPr>
            <a:r>
              <a:rPr lang="en-US" sz="2850" dirty="0">
                <a:solidFill>
                  <a:srgbClr val="6E6B62"/>
                </a:solidFill>
                <a:latin typeface="Helvetica" pitchFamily="34" charset="0"/>
                <a:ea typeface="Helvetica" pitchFamily="34" charset="-122"/>
                <a:cs typeface="Helvetica" pitchFamily="34" charset="-120"/>
              </a:rPr>
              <a:t>Ne ovisi samo o tome </a:t>
            </a:r>
            <a:r>
              <a:rPr lang="en-US" sz="2850" dirty="0">
                <a:solidFill>
                  <a:srgbClr val="15140F"/>
                </a:solidFill>
                <a:latin typeface="Helvetica" pitchFamily="34" charset="0"/>
                <a:ea typeface="Helvetica" pitchFamily="34" charset="-122"/>
                <a:cs typeface="Helvetica" pitchFamily="34" charset="-120"/>
              </a:rPr>
              <a:t>koliko robot može </a:t>
            </a:r>
            <a:r>
              <a:rPr lang="en-US" sz="2850" dirty="0">
                <a:solidFill>
                  <a:srgbClr val="6E6B62"/>
                </a:solidFill>
                <a:latin typeface="Helvetica" pitchFamily="34" charset="0"/>
                <a:ea typeface="Helvetica" pitchFamily="34" charset="-122"/>
                <a:cs typeface="Helvetica" pitchFamily="34" charset="-120"/>
              </a:rPr>
              <a:t>, nego prije svega koliko pouzdano možemo </a:t>
            </a:r>
            <a:r>
              <a:rPr lang="en-US" sz="2850" dirty="0">
                <a:solidFill>
                  <a:srgbClr val="15140F"/>
                </a:solidFill>
                <a:latin typeface="Helvetica" pitchFamily="34" charset="0"/>
                <a:ea typeface="Helvetica" pitchFamily="34" charset="-122"/>
                <a:cs typeface="Helvetica" pitchFamily="34" charset="-120"/>
              </a:rPr>
              <a:t>dokazati ono što smije </a:t>
            </a:r>
            <a:r>
              <a:rPr lang="en-US" sz="2850" dirty="0">
                <a:solidFill>
                  <a:srgbClr val="6E6B62"/>
                </a:solidFill>
                <a:latin typeface="Helvetica" pitchFamily="34" charset="0"/>
                <a:ea typeface="Helvetica" pitchFamily="34" charset="-122"/>
                <a:cs typeface="Helvetica" pitchFamily="34" charset="-120"/>
              </a:rPr>
              <a:t>.</a:t>
            </a:r>
            <a:endParaRPr lang="en-US" sz="2850" dirty="0"/>
          </a:p>
        </p:txBody>
      </p:sp>
      <p:sp>
        <p:nvSpPr>
          <p:cNvPr id="5" name="Shape 3"/>
          <p:cNvSpPr/>
          <p:nvPr/>
        </p:nvSpPr>
        <p:spPr>
          <a:xfrm>
            <a:off x="1047750" y="9401175"/>
            <a:ext cx="16192500" cy="9525"/>
          </a:xfrm>
          <a:prstGeom prst="rect">
            <a:avLst/>
          </a:prstGeom>
          <a:solidFill>
            <a:srgbClr val="E4E2DA"/>
          </a:solidFill>
          <a:ln/>
        </p:spPr>
        <p:txBody>
          <a:bodyPr/>
          <a:lstStyle/>
          <a:p>
            <a:endParaRPr lang="en-GB"/>
          </a:p>
        </p:txBody>
      </p:sp>
      <p:sp>
        <p:nvSpPr>
          <p:cNvPr id="6" name="Text 4"/>
          <p:cNvSpPr/>
          <p:nvPr/>
        </p:nvSpPr>
        <p:spPr>
          <a:xfrm>
            <a:off x="1047750" y="9582150"/>
            <a:ext cx="4547726"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KREŠIMIR HARTL · FSB ZAGREB</a:t>
            </a:r>
            <a:endParaRPr lang="en-US" sz="1800" dirty="0"/>
          </a:p>
        </p:txBody>
      </p:sp>
      <p:sp>
        <p:nvSpPr>
          <p:cNvPr id="7" name="Text 5"/>
          <p:cNvSpPr/>
          <p:nvPr/>
        </p:nvSpPr>
        <p:spPr>
          <a:xfrm>
            <a:off x="16933962" y="9582150"/>
            <a:ext cx="382488" cy="304800"/>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9A968B"/>
                </a:solidFill>
                <a:latin typeface="Courier New" pitchFamily="34" charset="0"/>
                <a:ea typeface="Courier New" pitchFamily="34" charset="-122"/>
                <a:cs typeface="Courier New" pitchFamily="34" charset="-120"/>
              </a:rPr>
              <a:t>18</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5676499-01AF-4960-B071-8D6310C222A1}">
  <we:reference id="wa200010725" version="1.0.0.1" store="en-GB" storeType="OMEX"/>
  <we:alternateReferences>
    <we:reference id="WA200010725"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3134</Words>
  <Application>Microsoft Office PowerPoint</Application>
  <PresentationFormat>Custom</PresentationFormat>
  <Paragraphs>269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Courier New</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KHartl</dc:creator>
  <cp:lastModifiedBy>Krešimir Hartl</cp:lastModifiedBy>
  <cp:revision>4</cp:revision>
  <dcterms:created xsi:type="dcterms:W3CDTF">2026-06-17T06:19:52Z</dcterms:created>
  <dcterms:modified xsi:type="dcterms:W3CDTF">2026-09-13T00:00:55Z</dcterms:modified>
</cp:coreProperties>
</file>